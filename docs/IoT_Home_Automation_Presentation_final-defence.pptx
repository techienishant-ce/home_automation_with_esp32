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73" r:id="rId2"/>
    <p:sldId id="283" r:id="rId3"/>
    <p:sldId id="284" r:id="rId4"/>
    <p:sldId id="285" r:id="rId5"/>
    <p:sldId id="286" r:id="rId6"/>
    <p:sldId id="288" r:id="rId7"/>
    <p:sldId id="287" r:id="rId8"/>
    <p:sldId id="296" r:id="rId9"/>
    <p:sldId id="263" r:id="rId10"/>
    <p:sldId id="262" r:id="rId11"/>
    <p:sldId id="275" r:id="rId12"/>
    <p:sldId id="276" r:id="rId13"/>
    <p:sldId id="274" r:id="rId14"/>
    <p:sldId id="261" r:id="rId15"/>
    <p:sldId id="297" r:id="rId16"/>
    <p:sldId id="290" r:id="rId17"/>
    <p:sldId id="265" r:id="rId18"/>
    <p:sldId id="289" r:id="rId19"/>
    <p:sldId id="277" r:id="rId20"/>
    <p:sldId id="291" r:id="rId21"/>
    <p:sldId id="256" r:id="rId22"/>
    <p:sldId id="268" r:id="rId23"/>
    <p:sldId id="269" r:id="rId24"/>
    <p:sldId id="292" r:id="rId25"/>
    <p:sldId id="298" r:id="rId26"/>
    <p:sldId id="282" r:id="rId27"/>
    <p:sldId id="281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30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63" autoAdjust="0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101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74D38B-4F21-4684-857C-69EA9C69B65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CE76BB-499A-4090-B2B0-782A3B2ED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403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015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883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254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752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6857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5331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6598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297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3132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3350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3490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6297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8151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6769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771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4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2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15.png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0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72372" y="-3131820"/>
            <a:ext cx="6400800" cy="6400800"/>
          </a:xfrm>
          <a:prstGeom prst="ellipse">
            <a:avLst/>
          </a:prstGeom>
          <a:solidFill>
            <a:srgbClr val="002060">
              <a:alpha val="8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558290" y="3813048"/>
            <a:ext cx="5486400" cy="5486400"/>
          </a:xfrm>
          <a:prstGeom prst="ellipse">
            <a:avLst/>
          </a:prstGeom>
          <a:solidFill>
            <a:srgbClr val="002060">
              <a:alpha val="77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531239" y="57607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3F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KATHMANDU UNIVERSITY</a:t>
            </a:r>
            <a:endParaRPr lang="en-US" sz="2800" b="1" dirty="0"/>
          </a:p>
        </p:txBody>
      </p:sp>
      <p:sp>
        <p:nvSpPr>
          <p:cNvPr id="5" name="Text 3"/>
          <p:cNvSpPr/>
          <p:nvPr/>
        </p:nvSpPr>
        <p:spPr>
          <a:xfrm>
            <a:off x="1535049" y="961263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  •  Dhulikhel, Kavre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6126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Based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Automation System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2863514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endParaRPr lang="en-US" sz="1600" i="1" dirty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5000"/>
              </a:lnSpc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an ESP32 microcontroller and a self-hosted web dashboard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3F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0080" y="44622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Nishant Sah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041125-25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44622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Dipra Shrestha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041136-25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5029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Sandesh Shrestha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041141-25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5029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Samin Tharu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041155-25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5961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Grishma Thapa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038007-24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62636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ENGG 102  |  Year I / Sem II   •   July 27, 2026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18120" y="1417320"/>
            <a:ext cx="1645920" cy="2468880"/>
          </a:xfrm>
          <a:prstGeom prst="line">
            <a:avLst/>
          </a:prstGeom>
          <a:noFill/>
          <a:ln w="15875">
            <a:solidFill>
              <a:srgbClr val="3FE0D0">
                <a:alpha val="75000"/>
              </a:srgbClr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 flipV="1">
            <a:off x="9464040" y="1600200"/>
            <a:ext cx="1554480" cy="2286000"/>
          </a:xfrm>
          <a:prstGeom prst="line">
            <a:avLst/>
          </a:prstGeom>
          <a:noFill/>
          <a:ln w="15875">
            <a:solidFill>
              <a:srgbClr val="3FE0D0">
                <a:alpha val="75000"/>
              </a:srgbClr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7178040" y="3657600"/>
            <a:ext cx="2286000" cy="228600"/>
          </a:xfrm>
          <a:prstGeom prst="line">
            <a:avLst/>
          </a:prstGeom>
          <a:noFill/>
          <a:ln w="15875">
            <a:solidFill>
              <a:srgbClr val="3FE0D0">
                <a:alpha val="75000"/>
              </a:srgbClr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 flipV="1">
            <a:off x="9464040" y="3794760"/>
            <a:ext cx="2194560" cy="91440"/>
          </a:xfrm>
          <a:prstGeom prst="line">
            <a:avLst/>
          </a:prstGeom>
          <a:noFill/>
          <a:ln w="15875">
            <a:solidFill>
              <a:srgbClr val="3FE0D0">
                <a:alpha val="75000"/>
              </a:srgbClr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 flipV="1">
            <a:off x="7818120" y="3886200"/>
            <a:ext cx="1645920" cy="1920240"/>
          </a:xfrm>
          <a:prstGeom prst="line">
            <a:avLst/>
          </a:prstGeom>
          <a:noFill/>
          <a:ln w="15875">
            <a:solidFill>
              <a:srgbClr val="3FE0D0">
                <a:alpha val="75000"/>
              </a:srgbClr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9464040" y="3886200"/>
            <a:ext cx="1554480" cy="1737360"/>
          </a:xfrm>
          <a:prstGeom prst="line">
            <a:avLst/>
          </a:prstGeom>
          <a:noFill/>
          <a:ln w="15875">
            <a:solidFill>
              <a:srgbClr val="3FE0D0">
                <a:alpha val="75000"/>
              </a:srgbClr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8046720" y="2377440"/>
            <a:ext cx="2834640" cy="1234440"/>
          </a:xfrm>
          <a:prstGeom prst="triangle">
            <a:avLst/>
          </a:prstGeom>
          <a:solidFill>
            <a:srgbClr val="3FE0D0"/>
          </a:solidFill>
          <a:ln/>
        </p:spPr>
      </p:sp>
      <p:sp>
        <p:nvSpPr>
          <p:cNvPr id="23" name="Shape 21"/>
          <p:cNvSpPr/>
          <p:nvPr/>
        </p:nvSpPr>
        <p:spPr>
          <a:xfrm>
            <a:off x="8275320" y="3566160"/>
            <a:ext cx="237744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3FE0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08008" y="4389120"/>
            <a:ext cx="512064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Shape 23"/>
          <p:cNvSpPr/>
          <p:nvPr/>
        </p:nvSpPr>
        <p:spPr>
          <a:xfrm>
            <a:off x="8503920" y="3840480"/>
            <a:ext cx="457200" cy="457200"/>
          </a:xfrm>
          <a:prstGeom prst="rect">
            <a:avLst/>
          </a:prstGeom>
          <a:solidFill>
            <a:srgbClr val="3FE0D0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66960" y="3840480"/>
            <a:ext cx="457200" cy="457200"/>
          </a:xfrm>
          <a:prstGeom prst="rect">
            <a:avLst/>
          </a:prstGeom>
          <a:solidFill>
            <a:srgbClr val="3FE0D0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149840" y="2468880"/>
            <a:ext cx="201168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7507224" y="1106424"/>
            <a:ext cx="621792" cy="621792"/>
          </a:xfrm>
          <a:prstGeom prst="ellipse">
            <a:avLst/>
          </a:prstGeom>
          <a:solidFill>
            <a:srgbClr val="141B47"/>
          </a:solidFill>
          <a:ln w="19050">
            <a:solidFill>
              <a:srgbClr val="3FE0D0"/>
            </a:solidFill>
            <a:prstDash val="solid"/>
          </a:ln>
        </p:spPr>
      </p:sp>
      <p:pic>
        <p:nvPicPr>
          <p:cNvPr id="29" name="Image 0" descr="/home/claude/work/icon_wi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4384" y="1243584"/>
            <a:ext cx="347472" cy="347472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6995160" y="758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Link</a:t>
            </a:r>
            <a:endParaRPr lang="en-US" sz="1200" b="1" dirty="0"/>
          </a:p>
        </p:txBody>
      </p:sp>
      <p:sp>
        <p:nvSpPr>
          <p:cNvPr id="31" name="Shape 28"/>
          <p:cNvSpPr/>
          <p:nvPr/>
        </p:nvSpPr>
        <p:spPr>
          <a:xfrm>
            <a:off x="10707624" y="1289304"/>
            <a:ext cx="621792" cy="621792"/>
          </a:xfrm>
          <a:prstGeom prst="ellipse">
            <a:avLst/>
          </a:prstGeom>
          <a:solidFill>
            <a:srgbClr val="141B47"/>
          </a:solidFill>
          <a:ln w="19050">
            <a:solidFill>
              <a:srgbClr val="3FE0D0"/>
            </a:solidFill>
            <a:prstDash val="solid"/>
          </a:ln>
        </p:spPr>
      </p:sp>
      <p:pic>
        <p:nvPicPr>
          <p:cNvPr id="32" name="Image 1" descr="/home/claude/work/icon_ph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4784" y="1426464"/>
            <a:ext cx="347472" cy="347472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10195560" y="9418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200" b="1" dirty="0"/>
          </a:p>
        </p:txBody>
      </p:sp>
      <p:sp>
        <p:nvSpPr>
          <p:cNvPr id="34" name="Shape 30"/>
          <p:cNvSpPr/>
          <p:nvPr/>
        </p:nvSpPr>
        <p:spPr>
          <a:xfrm>
            <a:off x="6867144" y="3346704"/>
            <a:ext cx="621792" cy="621792"/>
          </a:xfrm>
          <a:prstGeom prst="ellipse">
            <a:avLst/>
          </a:prstGeom>
          <a:solidFill>
            <a:srgbClr val="141B47"/>
          </a:solidFill>
          <a:ln w="19050">
            <a:solidFill>
              <a:srgbClr val="3FE0D0"/>
            </a:solidFill>
            <a:prstDash val="solid"/>
          </a:ln>
        </p:spPr>
      </p:sp>
      <p:pic>
        <p:nvPicPr>
          <p:cNvPr id="35" name="Image 2" descr="/home/claude/work/icon_bul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4304" y="3483864"/>
            <a:ext cx="347472" cy="347472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355080" y="4023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Lighting</a:t>
            </a:r>
            <a:endParaRPr lang="en-US" sz="1200" b="1" dirty="0"/>
          </a:p>
        </p:txBody>
      </p:sp>
      <p:sp>
        <p:nvSpPr>
          <p:cNvPr id="37" name="Shape 32"/>
          <p:cNvSpPr/>
          <p:nvPr/>
        </p:nvSpPr>
        <p:spPr>
          <a:xfrm>
            <a:off x="11347704" y="3483864"/>
            <a:ext cx="621792" cy="621792"/>
          </a:xfrm>
          <a:prstGeom prst="ellipse">
            <a:avLst/>
          </a:prstGeom>
          <a:solidFill>
            <a:srgbClr val="141B47"/>
          </a:solidFill>
          <a:ln w="19050">
            <a:solidFill>
              <a:srgbClr val="3FE0D0"/>
            </a:solidFill>
            <a:prstDash val="solid"/>
          </a:ln>
        </p:spPr>
      </p:sp>
      <p:pic>
        <p:nvPicPr>
          <p:cNvPr id="38" name="Image 3" descr="/home/claude/work/icon_f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84864" y="3621024"/>
            <a:ext cx="347472" cy="347472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10520172" y="4181856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Fan Control</a:t>
            </a:r>
            <a:endParaRPr lang="en-US" sz="1200" b="1" dirty="0"/>
          </a:p>
        </p:txBody>
      </p:sp>
      <p:sp>
        <p:nvSpPr>
          <p:cNvPr id="40" name="Shape 34"/>
          <p:cNvSpPr/>
          <p:nvPr/>
        </p:nvSpPr>
        <p:spPr>
          <a:xfrm>
            <a:off x="7507224" y="5495544"/>
            <a:ext cx="621792" cy="621792"/>
          </a:xfrm>
          <a:prstGeom prst="ellipse">
            <a:avLst/>
          </a:prstGeom>
          <a:solidFill>
            <a:srgbClr val="141B47"/>
          </a:solidFill>
          <a:ln w="19050">
            <a:solidFill>
              <a:srgbClr val="3FE0D0"/>
            </a:solidFill>
            <a:prstDash val="solid"/>
          </a:ln>
        </p:spPr>
      </p:sp>
      <p:pic>
        <p:nvPicPr>
          <p:cNvPr id="41" name="Image 4" descr="/home/claude/work/icon_tem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4384" y="5632704"/>
            <a:ext cx="347472" cy="347472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6995160" y="6172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 Sensor</a:t>
            </a:r>
            <a:endParaRPr lang="en-US" sz="1200" b="1" dirty="0"/>
          </a:p>
        </p:txBody>
      </p:sp>
      <p:sp>
        <p:nvSpPr>
          <p:cNvPr id="43" name="Shape 36"/>
          <p:cNvSpPr/>
          <p:nvPr/>
        </p:nvSpPr>
        <p:spPr>
          <a:xfrm>
            <a:off x="10707624" y="5312664"/>
            <a:ext cx="621792" cy="621792"/>
          </a:xfrm>
          <a:prstGeom prst="ellipse">
            <a:avLst/>
          </a:prstGeom>
          <a:solidFill>
            <a:srgbClr val="141B47"/>
          </a:solidFill>
          <a:ln w="19050">
            <a:solidFill>
              <a:srgbClr val="3FE0D0"/>
            </a:solidFill>
            <a:prstDash val="solid"/>
          </a:ln>
        </p:spPr>
      </p:sp>
      <p:pic>
        <p:nvPicPr>
          <p:cNvPr id="44" name="Image 5" descr="/home/claude/work/icon_plu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44784" y="5449824"/>
            <a:ext cx="347472" cy="347472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10195560" y="5989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Switching</a:t>
            </a:r>
            <a:endParaRPr lang="en-US" sz="1200" b="1" dirty="0"/>
          </a:p>
        </p:txBody>
      </p:sp>
      <p:pic>
        <p:nvPicPr>
          <p:cNvPr id="47" name="Image 0" descr="/mnt/user-data/outputs/media/logo-200.png">
            <a:extLst>
              <a:ext uri="{FF2B5EF4-FFF2-40B4-BE49-F238E27FC236}">
                <a16:creationId xmlns:a16="http://schemas.microsoft.com/office/drawing/2014/main" id="{FF79BB60-BAC7-0618-A41B-31C2661D8B6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4068" y="502920"/>
            <a:ext cx="822960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593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548640" cy="457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55448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" y="1952244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758" y="2101474"/>
            <a:ext cx="323332" cy="3233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7190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54480" y="20574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in traditional home switches and what we set out to build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63640" y="155448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64808" y="1952244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038" y="2101474"/>
            <a:ext cx="323332" cy="3233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23760" y="17190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223760" y="20574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data model, and how a command flows through the system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94360" y="329184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95528" y="3689604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758" y="3838834"/>
            <a:ext cx="323332" cy="3233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34564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Software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554480" y="379476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used and the firmware/dashboard stack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263640" y="329184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64808" y="3689604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038" y="3838834"/>
            <a:ext cx="323332" cy="3233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23760" y="34564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&amp; Testing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223760" y="379476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Breadboard build, enclosure, and validation across 5 test stages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94360" y="502920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95528" y="5426964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758" y="5576194"/>
            <a:ext cx="323332" cy="3233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54480" y="51937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Limitations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1554480" y="55321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 today, and what the system can't do yet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263640" y="502920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464808" y="5426964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4038" y="5576194"/>
            <a:ext cx="323332" cy="32333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223760" y="51937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 Conclusion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7223760" y="55321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feedback module and where this goes next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42">
            <a:extLst>
              <a:ext uri="{FF2B5EF4-FFF2-40B4-BE49-F238E27FC236}">
                <a16:creationId xmlns:a16="http://schemas.microsoft.com/office/drawing/2014/main" id="{48E5CB2F-59DC-93B8-80E1-AF9A81C87E43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Home Automation System  |  Kathmandu University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915094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Switches Can't Keep 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548640" cy="457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4173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homes still rely on manual, wall-mounted switches and ageing wiring. This works, but it comes with real limitations for modern, fast-paced households: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214884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12233F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37744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2509114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0632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remote control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22960" y="33832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Appliances can only be switched at the wall — not from a phone or PC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214884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12233F"/>
          </a:solidFill>
          <a:ln/>
        </p:spPr>
      </p:sp>
      <p:sp>
        <p:nvSpPr>
          <p:cNvPr id="12" name="Shape 9"/>
          <p:cNvSpPr/>
          <p:nvPr/>
        </p:nvSpPr>
        <p:spPr>
          <a:xfrm>
            <a:off x="6492240" y="237744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3914" y="250911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92240" y="30632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automation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492240" y="33832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Fans and other appliances don't respond to real temperature or humidity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94360" y="416052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12233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7" name="Shape 13"/>
          <p:cNvSpPr/>
          <p:nvPr/>
        </p:nvSpPr>
        <p:spPr>
          <a:xfrm>
            <a:off x="822960" y="438912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34" y="4520794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2960" y="5074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commercial options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22960" y="53949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smart-home kits are costly and often locked to a vendor's app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263640" y="416052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12233F"/>
          </a:solidFill>
          <a:ln/>
        </p:spPr>
      </p:sp>
      <p:sp>
        <p:nvSpPr>
          <p:cNvPr id="22" name="Shape 17"/>
          <p:cNvSpPr/>
          <p:nvPr/>
        </p:nvSpPr>
        <p:spPr>
          <a:xfrm>
            <a:off x="6492240" y="438912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3914" y="4520794"/>
            <a:ext cx="285293" cy="28529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492240" y="5074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6492240" y="53949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systems depend on third-party cloud apps the user can't customize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9" name="Text 42">
            <a:extLst>
              <a:ext uri="{FF2B5EF4-FFF2-40B4-BE49-F238E27FC236}">
                <a16:creationId xmlns:a16="http://schemas.microsoft.com/office/drawing/2014/main" id="{F3F1C982-429A-3F25-F7D4-3DF288644C37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Home Automation System  |  Kathmandu University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03843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— All Achieved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548640" cy="457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27632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792224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554480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develop a smart home automation system using the ESP32 microcontroller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10332720" y="1860804"/>
            <a:ext cx="438912" cy="438912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8059" y="1966143"/>
            <a:ext cx="228234" cy="22823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40080" y="2660904"/>
            <a:ext cx="10607040" cy="0"/>
          </a:xfrm>
          <a:prstGeom prst="line">
            <a:avLst/>
          </a:prstGeom>
          <a:noFill/>
          <a:ln w="12700">
            <a:solidFill>
              <a:srgbClr val="E3E8E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0080" y="2880360"/>
            <a:ext cx="685800" cy="685800"/>
          </a:xfrm>
          <a:prstGeom prst="ellipse">
            <a:avLst/>
          </a:prstGeom>
          <a:solidFill>
            <a:srgbClr val="12233F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3044952"/>
            <a:ext cx="356616" cy="35661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2807208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multiple electrical appliances using a 4-channel relay module through a web dashboard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10332720" y="3113532"/>
            <a:ext cx="438912" cy="438912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8059" y="3218871"/>
            <a:ext cx="228234" cy="22823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40080" y="3913632"/>
            <a:ext cx="10607040" cy="0"/>
          </a:xfrm>
          <a:prstGeom prst="line">
            <a:avLst/>
          </a:prstGeom>
          <a:noFill/>
          <a:ln w="12700">
            <a:solidFill>
              <a:srgbClr val="E3E8EF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640080" y="4133088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4297680"/>
            <a:ext cx="356616" cy="35661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600200" y="4059936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DHT22 sensor to automatically switch a fan on or off based on temperature and humidity</a:t>
            </a:r>
            <a:endParaRPr lang="en-US" sz="1550" dirty="0"/>
          </a:p>
        </p:txBody>
      </p:sp>
      <p:sp>
        <p:nvSpPr>
          <p:cNvPr id="20" name="Shape 13"/>
          <p:cNvSpPr/>
          <p:nvPr/>
        </p:nvSpPr>
        <p:spPr>
          <a:xfrm>
            <a:off x="10332720" y="4366260"/>
            <a:ext cx="438912" cy="438912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8059" y="4471599"/>
            <a:ext cx="228234" cy="228234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640080" y="5166360"/>
            <a:ext cx="10607040" cy="0"/>
          </a:xfrm>
          <a:prstGeom prst="line">
            <a:avLst/>
          </a:prstGeom>
          <a:noFill/>
          <a:ln w="12700">
            <a:solidFill>
              <a:srgbClr val="E3E8EF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640080" y="5385816"/>
            <a:ext cx="685800" cy="685800"/>
          </a:xfrm>
          <a:prstGeom prst="ellipse">
            <a:avLst/>
          </a:prstGeom>
          <a:solidFill>
            <a:srgbClr val="12233F"/>
          </a:solidFill>
          <a:ln/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" y="5550408"/>
            <a:ext cx="356616" cy="35661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600200" y="5312664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remote monitoring and control of all relays through a custom web-based interface hosted on the ESP32</a:t>
            </a:r>
            <a:endParaRPr lang="en-US" sz="1550" dirty="0"/>
          </a:p>
        </p:txBody>
      </p:sp>
      <p:sp>
        <p:nvSpPr>
          <p:cNvPr id="26" name="Shape 17"/>
          <p:cNvSpPr/>
          <p:nvPr/>
        </p:nvSpPr>
        <p:spPr>
          <a:xfrm>
            <a:off x="10332720" y="5618988"/>
            <a:ext cx="438912" cy="438912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8059" y="5724327"/>
            <a:ext cx="228234" cy="228234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3" name="Text 42">
            <a:extLst>
              <a:ext uri="{FF2B5EF4-FFF2-40B4-BE49-F238E27FC236}">
                <a16:creationId xmlns:a16="http://schemas.microsoft.com/office/drawing/2014/main" id="{AEE4B835-E691-8E45-94D6-EF4542E4EE06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Home Automation System  |  Kathmandu University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44247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Compares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548640" cy="457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554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566160" y="15544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589520" y="1554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1109960" cy="502920"/>
          </a:xfrm>
          <a:prstGeom prst="rect">
            <a:avLst/>
          </a:prstGeom>
          <a:solidFill>
            <a:srgbClr val="12233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54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11880" y="15544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635240" y="1554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057400"/>
            <a:ext cx="11109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1031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Anusha et al. (2024)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11880" y="210312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+ relay + sensor monitoring over Wi-Fi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35240" y="2103120"/>
            <a:ext cx="3916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switching, but no self-hosted dashboard shown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11109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1546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Kakani et al. (2024)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11880" y="315468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relay control via the Blynk mobile app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35240" y="315468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Convenient, but depends on a third-party app/account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11109960" cy="960120"/>
          </a:xfrm>
          <a:prstGeom prst="rect">
            <a:avLst/>
          </a:prstGeom>
          <a:solidFill>
            <a:srgbClr val="FFF3D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2062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11880" y="42062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+ relay + DHT22 + self-hosted dashboard + planned voice feedback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35240" y="420624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independent, no cloud/app dependency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42">
            <a:extLst>
              <a:ext uri="{FF2B5EF4-FFF2-40B4-BE49-F238E27FC236}">
                <a16:creationId xmlns:a16="http://schemas.microsoft.com/office/drawing/2014/main" id="{7AD74777-9564-DC28-70AE-631E3CDEB03F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Home Automation System  |  Kathmandu University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68522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548640" cy="457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3258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ESP32 sits at the center, bridging the user's browser, the relay-controlled appliances, and the DHT22 sensor — all over the home Wi-Fi network, with no cloud involved.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34189" y="1700786"/>
            <a:ext cx="9472864" cy="4764022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blurRad="127000" dist="38100" dir="5400000" algn="bl" rotWithShape="0">
              <a:srgbClr val="12233F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DDC61AB-7030-7488-C5F1-B2510B8DE1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28" t="3708" r="3528" b="2667"/>
          <a:stretch>
            <a:fillRect/>
          </a:stretch>
        </p:blipFill>
        <p:spPr>
          <a:xfrm>
            <a:off x="1250000" y="1719073"/>
            <a:ext cx="8622632" cy="4654294"/>
          </a:xfrm>
          <a:prstGeom prst="rect">
            <a:avLst/>
          </a:prstGeom>
        </p:spPr>
      </p:pic>
      <p:sp>
        <p:nvSpPr>
          <p:cNvPr id="10" name="Text 42">
            <a:extLst>
              <a:ext uri="{FF2B5EF4-FFF2-40B4-BE49-F238E27FC236}">
                <a16:creationId xmlns:a16="http://schemas.microsoft.com/office/drawing/2014/main" id="{DDEE660B-FC5C-63B5-0FCC-7EFC2DEF2069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Home Automation System  |  Kathmandu University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148602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548640" cy="457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737360"/>
            <a:ext cx="2468880" cy="2286000"/>
          </a:xfrm>
          <a:prstGeom prst="roundRect">
            <a:avLst>
              <a:gd name="adj" fmla="val 3200"/>
            </a:avLst>
          </a:prstGeom>
          <a:solidFill>
            <a:srgbClr val="12233F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2011680"/>
            <a:ext cx="731520" cy="73152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605" y="2187245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880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Tap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321868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taps a control on the web dashboard</a:t>
            </a:r>
            <a:endParaRPr lang="en-US" sz="10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1528" y="2697480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291840" y="1737360"/>
            <a:ext cx="2468880" cy="2286000"/>
          </a:xfrm>
          <a:prstGeom prst="roundRect">
            <a:avLst>
              <a:gd name="adj" fmla="val 3200"/>
            </a:avLst>
          </a:prstGeom>
          <a:solidFill>
            <a:srgbClr val="1C7293"/>
          </a:solidFill>
          <a:ln/>
        </p:spPr>
      </p:sp>
      <p:sp>
        <p:nvSpPr>
          <p:cNvPr id="12" name="Shape 8"/>
          <p:cNvSpPr/>
          <p:nvPr/>
        </p:nvSpPr>
        <p:spPr>
          <a:xfrm>
            <a:off x="4160520" y="2011680"/>
            <a:ext cx="731520" cy="73152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6085" y="2187245"/>
            <a:ext cx="380390" cy="38039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29000" y="2880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Send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3474720" y="321868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travels over home Wi-Fi as an HTTP request</a:t>
            </a:r>
            <a:endParaRPr lang="en-US" sz="10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08" y="2697480"/>
            <a:ext cx="201168" cy="20116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989320" y="1737360"/>
            <a:ext cx="2468880" cy="2286000"/>
          </a:xfrm>
          <a:prstGeom prst="roundRect">
            <a:avLst>
              <a:gd name="adj" fmla="val 3200"/>
            </a:avLst>
          </a:prstGeom>
          <a:solidFill>
            <a:srgbClr val="12233F"/>
          </a:solidFill>
          <a:ln/>
        </p:spPr>
      </p:sp>
      <p:sp>
        <p:nvSpPr>
          <p:cNvPr id="18" name="Shape 12"/>
          <p:cNvSpPr/>
          <p:nvPr/>
        </p:nvSpPr>
        <p:spPr>
          <a:xfrm>
            <a:off x="6858000" y="2011680"/>
            <a:ext cx="731520" cy="73152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3565" y="2187245"/>
            <a:ext cx="380390" cy="38039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126480" y="2880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Process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6172200" y="321868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receives it and selects the right relay channel</a:t>
            </a:r>
            <a:endParaRPr lang="en-US" sz="105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6488" y="2697480"/>
            <a:ext cx="201168" cy="201168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8686800" y="1737360"/>
            <a:ext cx="2468880" cy="2286000"/>
          </a:xfrm>
          <a:prstGeom prst="roundRect">
            <a:avLst>
              <a:gd name="adj" fmla="val 3200"/>
            </a:avLst>
          </a:prstGeom>
          <a:solidFill>
            <a:srgbClr val="1C7293"/>
          </a:solidFill>
          <a:ln/>
        </p:spPr>
      </p:sp>
      <p:sp>
        <p:nvSpPr>
          <p:cNvPr id="24" name="Shape 16"/>
          <p:cNvSpPr/>
          <p:nvPr/>
        </p:nvSpPr>
        <p:spPr>
          <a:xfrm>
            <a:off x="9555480" y="2011680"/>
            <a:ext cx="731520" cy="73152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31045" y="2187245"/>
            <a:ext cx="380390" cy="38039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8823960" y="2880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Switch</a:t>
            </a:r>
            <a:endParaRPr lang="en-US" sz="1500" dirty="0"/>
          </a:p>
        </p:txBody>
      </p:sp>
      <p:sp>
        <p:nvSpPr>
          <p:cNvPr id="27" name="Text 18"/>
          <p:cNvSpPr/>
          <p:nvPr/>
        </p:nvSpPr>
        <p:spPr>
          <a:xfrm>
            <a:off x="8869680" y="321868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switches the appliance ON or OFF</a:t>
            </a:r>
            <a:endParaRPr lang="en-US" sz="1050" dirty="0"/>
          </a:p>
        </p:txBody>
      </p:sp>
      <p:sp>
        <p:nvSpPr>
          <p:cNvPr id="28" name="Shape 19"/>
          <p:cNvSpPr/>
          <p:nvPr/>
        </p:nvSpPr>
        <p:spPr>
          <a:xfrm>
            <a:off x="594360" y="4343400"/>
            <a:ext cx="10972800" cy="1554480"/>
          </a:xfrm>
          <a:prstGeom prst="roundRect">
            <a:avLst>
              <a:gd name="adj" fmla="val 4706"/>
            </a:avLst>
          </a:prstGeom>
          <a:solidFill>
            <a:srgbClr val="FFF3DF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868680" y="466344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190" y="4860950"/>
            <a:ext cx="427939" cy="427939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874520" y="457200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parallel: automatic fan control</a:t>
            </a:r>
            <a:endParaRPr lang="en-US" sz="1500" dirty="0"/>
          </a:p>
        </p:txBody>
      </p:sp>
      <p:sp>
        <p:nvSpPr>
          <p:cNvPr id="32" name="Text 22"/>
          <p:cNvSpPr/>
          <p:nvPr/>
        </p:nvSpPr>
        <p:spPr>
          <a:xfrm>
            <a:off x="1874520" y="493776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ESP32 continuously polls the DHT22 sensor. Whenever temperature or humidity crosses the configured threshold, it automatically toggles the fan relay and updates the dashboard — independent of any manual command.</a:t>
            </a:r>
            <a:endParaRPr lang="en-US" sz="1200" dirty="0"/>
          </a:p>
        </p:txBody>
      </p:sp>
      <p:sp>
        <p:nvSpPr>
          <p:cNvPr id="34" name="Text 2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6" name="Text 42">
            <a:extLst>
              <a:ext uri="{FF2B5EF4-FFF2-40B4-BE49-F238E27FC236}">
                <a16:creationId xmlns:a16="http://schemas.microsoft.com/office/drawing/2014/main" id="{A660B0CB-7A24-4A97-2561-3DEB57581419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Home Automation System  |  Kathmandu University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24121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9241"/>
            <a:ext cx="2305879" cy="2116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Flow Diagram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548640" cy="457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5" name="Shape 3"/>
          <p:cNvSpPr/>
          <p:nvPr/>
        </p:nvSpPr>
        <p:spPr>
          <a:xfrm>
            <a:off x="4807340" y="91440"/>
            <a:ext cx="6698555" cy="6606540"/>
          </a:xfrm>
          <a:prstGeom prst="roundRect">
            <a:avLst>
              <a:gd name="adj" fmla="val 1774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blurRad="127000" dist="38100" dir="5400000" algn="bl" rotWithShape="0">
              <a:srgbClr val="12233F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374723-C488-2672-176C-78D87EA9B9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381"/>
          <a:stretch>
            <a:fillRect/>
          </a:stretch>
        </p:blipFill>
        <p:spPr>
          <a:xfrm>
            <a:off x="4857549" y="125730"/>
            <a:ext cx="6648346" cy="6606540"/>
          </a:xfrm>
          <a:prstGeom prst="rect">
            <a:avLst/>
          </a:prstGeom>
        </p:spPr>
      </p:pic>
      <p:sp>
        <p:nvSpPr>
          <p:cNvPr id="9" name="Text 42">
            <a:extLst>
              <a:ext uri="{FF2B5EF4-FFF2-40B4-BE49-F238E27FC236}">
                <a16:creationId xmlns:a16="http://schemas.microsoft.com/office/drawing/2014/main" id="{CF45CB89-E38D-D37B-54AE-0AC4A94534AC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Home Automation System  |  Kathmandu University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62151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BUILD PROCESS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Implementation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35024" y="1764792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335024" y="17647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1901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33472" y="2400300"/>
            <a:ext cx="137160" cy="0"/>
          </a:xfrm>
          <a:prstGeom prst="line">
            <a:avLst/>
          </a:prstGeom>
          <a:noFill/>
          <a:ln w="22225">
            <a:solidFill>
              <a:srgbClr val="B7C1C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70632" y="160020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57016" y="176479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557016" y="17647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862072" y="2377440"/>
            <a:ext cx="1901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55464" y="2400300"/>
            <a:ext cx="137160" cy="0"/>
          </a:xfrm>
          <a:prstGeom prst="line">
            <a:avLst/>
          </a:prstGeom>
          <a:noFill/>
          <a:ln w="22225">
            <a:solidFill>
              <a:srgbClr val="B7C1C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992624" y="160020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79008" y="1764792"/>
            <a:ext cx="512064" cy="512064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5779008" y="17647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84064" y="2377440"/>
            <a:ext cx="1901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077456" y="2400300"/>
            <a:ext cx="137160" cy="0"/>
          </a:xfrm>
          <a:prstGeom prst="line">
            <a:avLst/>
          </a:prstGeom>
          <a:noFill/>
          <a:ln w="22225">
            <a:solidFill>
              <a:srgbClr val="B7C1C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214616" y="160020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01000" y="1764792"/>
            <a:ext cx="512064" cy="512064"/>
          </a:xfrm>
          <a:prstGeom prst="ellipse">
            <a:avLst/>
          </a:prstGeom>
          <a:solidFill>
            <a:srgbClr val="3B7A93"/>
          </a:solidFill>
          <a:ln/>
        </p:spPr>
      </p:sp>
      <p:sp>
        <p:nvSpPr>
          <p:cNvPr id="21" name="Text 19"/>
          <p:cNvSpPr/>
          <p:nvPr/>
        </p:nvSpPr>
        <p:spPr>
          <a:xfrm>
            <a:off x="8001000" y="17647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306056" y="2377440"/>
            <a:ext cx="1901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299448" y="2400300"/>
            <a:ext cx="137160" cy="0"/>
          </a:xfrm>
          <a:prstGeom prst="line">
            <a:avLst/>
          </a:prstGeom>
          <a:noFill/>
          <a:ln w="22225">
            <a:solidFill>
              <a:srgbClr val="B7C1C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436608" y="160020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222992" y="176479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10222992" y="17647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528048" y="2377440"/>
            <a:ext cx="1901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&amp; Relay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365760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35024" y="3822192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1335024" y="38221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40080" y="4434840"/>
            <a:ext cx="1901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633472" y="4457700"/>
            <a:ext cx="137160" cy="0"/>
          </a:xfrm>
          <a:prstGeom prst="line">
            <a:avLst/>
          </a:prstGeom>
          <a:noFill/>
          <a:ln w="22225">
            <a:solidFill>
              <a:srgbClr val="B7C1CC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770632" y="365760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57016" y="382219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Text 33"/>
          <p:cNvSpPr/>
          <p:nvPr/>
        </p:nvSpPr>
        <p:spPr>
          <a:xfrm>
            <a:off x="3557016" y="38221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2862072" y="4434840"/>
            <a:ext cx="1901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(HTML/CSS)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855464" y="4457700"/>
            <a:ext cx="137160" cy="0"/>
          </a:xfrm>
          <a:prstGeom prst="line">
            <a:avLst/>
          </a:prstGeom>
          <a:noFill/>
          <a:ln w="22225">
            <a:solidFill>
              <a:srgbClr val="B7C1CC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4992624" y="365760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779008" y="3822192"/>
            <a:ext cx="512064" cy="512064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40" name="Text 38"/>
          <p:cNvSpPr/>
          <p:nvPr/>
        </p:nvSpPr>
        <p:spPr>
          <a:xfrm>
            <a:off x="5779008" y="38221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5084064" y="4434840"/>
            <a:ext cx="1901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077456" y="4457700"/>
            <a:ext cx="137160" cy="0"/>
          </a:xfrm>
          <a:prstGeom prst="line">
            <a:avLst/>
          </a:prstGeom>
          <a:noFill/>
          <a:ln w="22225">
            <a:solidFill>
              <a:srgbClr val="B7C1CC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7214616" y="365760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01000" y="3822192"/>
            <a:ext cx="512064" cy="512064"/>
          </a:xfrm>
          <a:prstGeom prst="ellipse">
            <a:avLst/>
          </a:prstGeom>
          <a:solidFill>
            <a:srgbClr val="3B7A93"/>
          </a:solidFill>
          <a:ln/>
        </p:spPr>
      </p:sp>
      <p:sp>
        <p:nvSpPr>
          <p:cNvPr id="45" name="Text 43"/>
          <p:cNvSpPr/>
          <p:nvPr/>
        </p:nvSpPr>
        <p:spPr>
          <a:xfrm>
            <a:off x="8001000" y="38221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7306056" y="4434840"/>
            <a:ext cx="1901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&amp;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9299448" y="4457700"/>
            <a:ext cx="137160" cy="0"/>
          </a:xfrm>
          <a:prstGeom prst="line">
            <a:avLst/>
          </a:prstGeom>
          <a:noFill/>
          <a:ln w="22225">
            <a:solidFill>
              <a:srgbClr val="B7C1CC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9436608" y="365760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EDE3C8"/>
          </a:solidFill>
          <a:ln w="19050">
            <a:solidFill>
              <a:srgbClr val="E0A93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222992" y="382219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0" name="Text 48"/>
          <p:cNvSpPr/>
          <p:nvPr/>
        </p:nvSpPr>
        <p:spPr>
          <a:xfrm>
            <a:off x="10222992" y="38221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9528048" y="4434840"/>
            <a:ext cx="1901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8A6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Module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8A6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(Future Phase)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502920" y="57378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developed in Embedded C/C++ using the Arduino core for ESP32; each phase was verified before moving to the next, catching issues such as GPIO mapping errors and Wi-Fi reconnect bugs early.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Home Automation System  |  Kathmandu University</a:t>
            </a:r>
            <a:endParaRPr lang="en-US" sz="1000" dirty="0"/>
          </a:p>
        </p:txBody>
      </p:sp>
      <p:sp>
        <p:nvSpPr>
          <p:cNvPr id="56" name="Text 28">
            <a:extLst>
              <a:ext uri="{FF2B5EF4-FFF2-40B4-BE49-F238E27FC236}">
                <a16:creationId xmlns:a16="http://schemas.microsoft.com/office/drawing/2014/main" id="{FD46F945-7E8C-716A-29D2-70D5F3757D9F}"/>
              </a:ext>
            </a:extLst>
          </p:cNvPr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COMPONENTS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Hardware &amp; Software Components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43990"/>
            <a:ext cx="6502935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276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68680" y="2066544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93852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Dev Board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Dual-core 240 MHz, Wi-Fi + Bluetooth, main controller</a:t>
            </a:r>
            <a:endParaRPr lang="en-US" sz="1400" b="1" dirty="0"/>
          </a:p>
        </p:txBody>
      </p:sp>
      <p:sp>
        <p:nvSpPr>
          <p:cNvPr id="9" name="Shape 7"/>
          <p:cNvSpPr/>
          <p:nvPr/>
        </p:nvSpPr>
        <p:spPr>
          <a:xfrm>
            <a:off x="868680" y="2724912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59689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4-Channel Relay Module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85292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 coil, 10A/250V AC per channel</a:t>
            </a:r>
            <a:endParaRPr lang="en-US" sz="1400" b="1" dirty="0"/>
          </a:p>
        </p:txBody>
      </p:sp>
      <p:sp>
        <p:nvSpPr>
          <p:cNvPr id="12" name="Shape 10"/>
          <p:cNvSpPr/>
          <p:nvPr/>
        </p:nvSpPr>
        <p:spPr>
          <a:xfrm>
            <a:off x="868680" y="338328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25526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 Sensor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351129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±0.5°C temp, ±2-5% RH, single-wire digital</a:t>
            </a:r>
            <a:endParaRPr lang="en-US" sz="1400" b="1" dirty="0"/>
          </a:p>
        </p:txBody>
      </p:sp>
      <p:sp>
        <p:nvSpPr>
          <p:cNvPr id="15" name="Shape 13"/>
          <p:cNvSpPr/>
          <p:nvPr/>
        </p:nvSpPr>
        <p:spPr>
          <a:xfrm>
            <a:off x="868680" y="4041648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91363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LCD (16×2)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416966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live Wi-Fi &amp; status locally</a:t>
            </a:r>
            <a:endParaRPr lang="en-US" sz="1400" b="1" dirty="0"/>
          </a:p>
        </p:txBody>
      </p:sp>
      <p:sp>
        <p:nvSpPr>
          <p:cNvPr id="18" name="Shape 16"/>
          <p:cNvSpPr/>
          <p:nvPr/>
        </p:nvSpPr>
        <p:spPr>
          <a:xfrm>
            <a:off x="868680" y="4700016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5720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5V/2A Power Supply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7280" y="482803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ESP32 and relay module</a:t>
            </a:r>
            <a:endParaRPr lang="en-US" sz="1400" b="1" dirty="0"/>
          </a:p>
        </p:txBody>
      </p:sp>
      <p:sp>
        <p:nvSpPr>
          <p:cNvPr id="21" name="Shape 19"/>
          <p:cNvSpPr/>
          <p:nvPr/>
        </p:nvSpPr>
        <p:spPr>
          <a:xfrm>
            <a:off x="868680" y="5358384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523036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Breadboard &amp; Jumper Wires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54864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 connections</a:t>
            </a:r>
            <a:endParaRPr lang="en-US" sz="1400" b="1" dirty="0"/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Home Automation System  |  Kathmandu University</a:t>
            </a:r>
            <a:endParaRPr lang="en-US" sz="1000" dirty="0"/>
          </a:p>
        </p:txBody>
      </p:sp>
      <p:sp>
        <p:nvSpPr>
          <p:cNvPr id="25" name="Text 28">
            <a:extLst>
              <a:ext uri="{FF2B5EF4-FFF2-40B4-BE49-F238E27FC236}">
                <a16:creationId xmlns:a16="http://schemas.microsoft.com/office/drawing/2014/main" id="{A0A325F9-C0A4-6087-1D63-1A9F45AC34EE}"/>
              </a:ext>
            </a:extLst>
          </p:cNvPr>
          <p:cNvSpPr/>
          <p:nvPr/>
        </p:nvSpPr>
        <p:spPr>
          <a:xfrm>
            <a:off x="11285316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4DB6CF5-A80D-D8F3-DC5B-BACA145731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5895" y="1499617"/>
            <a:ext cx="3184358" cy="47162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2">
            <a:extLst>
              <a:ext uri="{FF2B5EF4-FFF2-40B4-BE49-F238E27FC236}">
                <a16:creationId xmlns:a16="http://schemas.microsoft.com/office/drawing/2014/main" id="{DA309FD6-FFFB-0A57-C4A4-D55278DBDF23}"/>
              </a:ext>
            </a:extLst>
          </p:cNvPr>
          <p:cNvSpPr/>
          <p:nvPr/>
        </p:nvSpPr>
        <p:spPr>
          <a:xfrm>
            <a:off x="6179554" y="452872"/>
            <a:ext cx="5396406" cy="5867613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5A40FB82-CF30-A313-929D-C67754A5F46E}"/>
              </a:ext>
            </a:extLst>
          </p:cNvPr>
          <p:cNvSpPr/>
          <p:nvPr/>
        </p:nvSpPr>
        <p:spPr>
          <a:xfrm>
            <a:off x="484928" y="452872"/>
            <a:ext cx="5166841" cy="5867613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ED64BD-6D94-1FDC-BEFD-87FE46B74B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41" t="8266" r="8419" b="10000"/>
          <a:stretch>
            <a:fillRect/>
          </a:stretch>
        </p:blipFill>
        <p:spPr>
          <a:xfrm>
            <a:off x="596584" y="1500042"/>
            <a:ext cx="4943527" cy="46841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191F56-331C-3E6D-44A3-3F0C757C59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85" t="9185" r="13045" b="9630"/>
          <a:stretch>
            <a:fillRect/>
          </a:stretch>
        </p:blipFill>
        <p:spPr>
          <a:xfrm>
            <a:off x="6336632" y="1381327"/>
            <a:ext cx="5120597" cy="4802905"/>
          </a:xfrm>
          <a:prstGeom prst="rect">
            <a:avLst/>
          </a:prstGeom>
        </p:spPr>
      </p:pic>
      <p:sp>
        <p:nvSpPr>
          <p:cNvPr id="15" name="Shape 3">
            <a:extLst>
              <a:ext uri="{FF2B5EF4-FFF2-40B4-BE49-F238E27FC236}">
                <a16:creationId xmlns:a16="http://schemas.microsoft.com/office/drawing/2014/main" id="{61E0E949-1227-B2C4-80E1-DCA2829D6429}"/>
              </a:ext>
            </a:extLst>
          </p:cNvPr>
          <p:cNvSpPr/>
          <p:nvPr/>
        </p:nvSpPr>
        <p:spPr>
          <a:xfrm>
            <a:off x="616040" y="537515"/>
            <a:ext cx="5035729" cy="549467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963C3BE8-006E-4F97-5F82-A7F70C203B6B}"/>
              </a:ext>
            </a:extLst>
          </p:cNvPr>
          <p:cNvSpPr/>
          <p:nvPr/>
        </p:nvSpPr>
        <p:spPr>
          <a:xfrm>
            <a:off x="322042" y="607227"/>
            <a:ext cx="5379227" cy="4100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3200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endParaRPr lang="en-US" sz="3200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4-Channel Relay Module</a:t>
            </a:r>
            <a:endParaRPr lang="en-US" sz="3200" dirty="0">
              <a:solidFill>
                <a:schemeClr val="bg1"/>
              </a:solidFill>
            </a:endParaRPr>
          </a:p>
          <a:p>
            <a:pPr algn="ctr"/>
            <a:endParaRPr lang="en-US" sz="32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672B21D9-3A5C-3C14-5AF1-D835D73C192D}"/>
              </a:ext>
            </a:extLst>
          </p:cNvPr>
          <p:cNvSpPr/>
          <p:nvPr/>
        </p:nvSpPr>
        <p:spPr>
          <a:xfrm>
            <a:off x="6264640" y="526083"/>
            <a:ext cx="5241255" cy="646331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CE67407B-1C96-1FB0-AE3D-EBFFB6B29CE5}"/>
              </a:ext>
            </a:extLst>
          </p:cNvPr>
          <p:cNvSpPr/>
          <p:nvPr/>
        </p:nvSpPr>
        <p:spPr>
          <a:xfrm>
            <a:off x="6407744" y="766220"/>
            <a:ext cx="5233233" cy="166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3600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endParaRPr lang="en-US" sz="3600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 Sensor</a:t>
            </a:r>
            <a:endParaRPr lang="en-US" sz="3600" dirty="0">
              <a:solidFill>
                <a:schemeClr val="bg1"/>
              </a:solidFill>
            </a:endParaRPr>
          </a:p>
          <a:p>
            <a:pPr algn="ctr"/>
            <a:endParaRPr lang="en-US" sz="36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4" name="Text 42">
            <a:extLst>
              <a:ext uri="{FF2B5EF4-FFF2-40B4-BE49-F238E27FC236}">
                <a16:creationId xmlns:a16="http://schemas.microsoft.com/office/drawing/2014/main" id="{9A734932-A157-95EF-8CB6-CD9DD51C2E18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Home Automation System  |  Kathmandu University</a:t>
            </a:r>
            <a:endParaRPr lang="en-US" sz="1000" dirty="0"/>
          </a:p>
        </p:txBody>
      </p:sp>
      <p:sp>
        <p:nvSpPr>
          <p:cNvPr id="7" name="Text 28">
            <a:extLst>
              <a:ext uri="{FF2B5EF4-FFF2-40B4-BE49-F238E27FC236}">
                <a16:creationId xmlns:a16="http://schemas.microsoft.com/office/drawing/2014/main" id="{19B7F914-22B8-1A61-7E50-0683A1F40234}"/>
              </a:ext>
            </a:extLst>
          </p:cNvPr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956027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2">
            <a:extLst>
              <a:ext uri="{FF2B5EF4-FFF2-40B4-BE49-F238E27FC236}">
                <a16:creationId xmlns:a16="http://schemas.microsoft.com/office/drawing/2014/main" id="{8B83D74C-B98A-6C9B-94D2-CE7DFBE1D9B2}"/>
              </a:ext>
            </a:extLst>
          </p:cNvPr>
          <p:cNvSpPr/>
          <p:nvPr/>
        </p:nvSpPr>
        <p:spPr>
          <a:xfrm>
            <a:off x="6313967" y="358914"/>
            <a:ext cx="5420833" cy="598251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1FECE9C3-4440-AE66-3284-B75C9D669EEA}"/>
              </a:ext>
            </a:extLst>
          </p:cNvPr>
          <p:cNvSpPr/>
          <p:nvPr/>
        </p:nvSpPr>
        <p:spPr>
          <a:xfrm>
            <a:off x="407867" y="332339"/>
            <a:ext cx="5470168" cy="600301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1D90A1-B038-1A3E-48BD-7D885ACBBF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44" t="7260" r="5852" b="13739"/>
          <a:stretch>
            <a:fillRect/>
          </a:stretch>
        </p:blipFill>
        <p:spPr>
          <a:xfrm>
            <a:off x="568620" y="1534940"/>
            <a:ext cx="5190496" cy="47325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3832EE6-D493-800E-FED0-4843CD49A0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22" t="5927" r="3505" b="9332"/>
          <a:stretch>
            <a:fillRect/>
          </a:stretch>
        </p:blipFill>
        <p:spPr>
          <a:xfrm>
            <a:off x="6399213" y="1719251"/>
            <a:ext cx="5224168" cy="4469985"/>
          </a:xfrm>
          <a:prstGeom prst="rect">
            <a:avLst/>
          </a:prstGeom>
        </p:spPr>
      </p:pic>
      <p:sp>
        <p:nvSpPr>
          <p:cNvPr id="15" name="Shape 3">
            <a:extLst>
              <a:ext uri="{FF2B5EF4-FFF2-40B4-BE49-F238E27FC236}">
                <a16:creationId xmlns:a16="http://schemas.microsoft.com/office/drawing/2014/main" id="{054A5BFB-910B-C9E0-7E4E-D870BE3DA5E5}"/>
              </a:ext>
            </a:extLst>
          </p:cNvPr>
          <p:cNvSpPr/>
          <p:nvPr/>
        </p:nvSpPr>
        <p:spPr>
          <a:xfrm>
            <a:off x="457200" y="522902"/>
            <a:ext cx="5301916" cy="646331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001D0F0B-1D89-2B23-F6FA-B13D0F57D773}"/>
              </a:ext>
            </a:extLst>
          </p:cNvPr>
          <p:cNvSpPr/>
          <p:nvPr/>
        </p:nvSpPr>
        <p:spPr>
          <a:xfrm>
            <a:off x="457200" y="1274303"/>
            <a:ext cx="530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3FC06B5B-C0CD-9FE3-2DF2-706A78EF9023}"/>
              </a:ext>
            </a:extLst>
          </p:cNvPr>
          <p:cNvSpPr/>
          <p:nvPr/>
        </p:nvSpPr>
        <p:spPr>
          <a:xfrm>
            <a:off x="609600" y="1426703"/>
            <a:ext cx="530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27226F0E-A042-A49F-4A26-2004681DC6A8}"/>
              </a:ext>
            </a:extLst>
          </p:cNvPr>
          <p:cNvSpPr/>
          <p:nvPr/>
        </p:nvSpPr>
        <p:spPr>
          <a:xfrm>
            <a:off x="457200" y="1579103"/>
            <a:ext cx="835152" cy="696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F7A3B578-A3A7-389E-64DA-FF151D6430EA}"/>
              </a:ext>
            </a:extLst>
          </p:cNvPr>
          <p:cNvSpPr/>
          <p:nvPr/>
        </p:nvSpPr>
        <p:spPr>
          <a:xfrm>
            <a:off x="424313" y="590492"/>
            <a:ext cx="5638799" cy="432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3600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LCD (16×2)</a:t>
            </a:r>
            <a:endParaRPr lang="en-US" sz="36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57098488-8848-0F7A-E62C-FFC960F01839}"/>
              </a:ext>
            </a:extLst>
          </p:cNvPr>
          <p:cNvSpPr/>
          <p:nvPr/>
        </p:nvSpPr>
        <p:spPr>
          <a:xfrm>
            <a:off x="6499044" y="516575"/>
            <a:ext cx="5045255" cy="62583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30C9323E-C6A1-68B1-FB89-97C697A2B881}"/>
              </a:ext>
            </a:extLst>
          </p:cNvPr>
          <p:cNvSpPr/>
          <p:nvPr/>
        </p:nvSpPr>
        <p:spPr>
          <a:xfrm flipH="1">
            <a:off x="6670304" y="668764"/>
            <a:ext cx="4873995" cy="3541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3200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endParaRPr lang="en-US" sz="3200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Breadboard &amp; Jumper Wires</a:t>
            </a:r>
            <a:endParaRPr lang="en-US" sz="32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4" name="Text 42">
            <a:extLst>
              <a:ext uri="{FF2B5EF4-FFF2-40B4-BE49-F238E27FC236}">
                <a16:creationId xmlns:a16="http://schemas.microsoft.com/office/drawing/2014/main" id="{E7FED1E3-75FB-E2C3-944F-4A2DACBC4F59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Home Automation System  |  Kathmandu University</a:t>
            </a:r>
            <a:endParaRPr lang="en-US" sz="1000" dirty="0"/>
          </a:p>
        </p:txBody>
      </p:sp>
      <p:sp>
        <p:nvSpPr>
          <p:cNvPr id="7" name="Text 28">
            <a:extLst>
              <a:ext uri="{FF2B5EF4-FFF2-40B4-BE49-F238E27FC236}">
                <a16:creationId xmlns:a16="http://schemas.microsoft.com/office/drawing/2014/main" id="{7A1CEF41-9711-4A05-158F-9E02405D71E0}"/>
              </a:ext>
            </a:extLst>
          </p:cNvPr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867945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2">
            <a:extLst>
              <a:ext uri="{FF2B5EF4-FFF2-40B4-BE49-F238E27FC236}">
                <a16:creationId xmlns:a16="http://schemas.microsoft.com/office/drawing/2014/main" id="{F2298051-7ADC-9D40-AA63-8F7080B34DE1}"/>
              </a:ext>
            </a:extLst>
          </p:cNvPr>
          <p:cNvSpPr/>
          <p:nvPr/>
        </p:nvSpPr>
        <p:spPr>
          <a:xfrm>
            <a:off x="350520" y="533400"/>
            <a:ext cx="11508104" cy="5704838"/>
          </a:xfrm>
          <a:prstGeom prst="roundRect">
            <a:avLst>
              <a:gd name="adj" fmla="val 1553"/>
            </a:avLst>
          </a:prstGeom>
          <a:solidFill>
            <a:srgbClr val="21295C"/>
          </a:solidFill>
          <a:ln/>
        </p:spPr>
      </p:sp>
      <p:sp>
        <p:nvSpPr>
          <p:cNvPr id="7" name="Text 23">
            <a:extLst>
              <a:ext uri="{FF2B5EF4-FFF2-40B4-BE49-F238E27FC236}">
                <a16:creationId xmlns:a16="http://schemas.microsoft.com/office/drawing/2014/main" id="{1E2868E5-8257-3F2D-A7A0-0B187DBCF675}"/>
              </a:ext>
            </a:extLst>
          </p:cNvPr>
          <p:cNvSpPr/>
          <p:nvPr/>
        </p:nvSpPr>
        <p:spPr>
          <a:xfrm>
            <a:off x="817880" y="619762"/>
            <a:ext cx="45720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5CC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TOOLS</a:t>
            </a:r>
            <a:endParaRPr lang="en-US" sz="2800" dirty="0"/>
          </a:p>
        </p:txBody>
      </p:sp>
      <p:sp>
        <p:nvSpPr>
          <p:cNvPr id="9" name="Text 25">
            <a:extLst>
              <a:ext uri="{FF2B5EF4-FFF2-40B4-BE49-F238E27FC236}">
                <a16:creationId xmlns:a16="http://schemas.microsoft.com/office/drawing/2014/main" id="{2B373223-BD4D-8EC6-6348-A883F43C1665}"/>
              </a:ext>
            </a:extLst>
          </p:cNvPr>
          <p:cNvSpPr/>
          <p:nvPr/>
        </p:nvSpPr>
        <p:spPr>
          <a:xfrm>
            <a:off x="899160" y="1530099"/>
            <a:ext cx="46634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Core for ESP32 (C/C++)</a:t>
            </a:r>
            <a:b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Wi-Fi, web server, GPIO, sensor firmware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1" name="Text 28">
            <a:extLst>
              <a:ext uri="{FF2B5EF4-FFF2-40B4-BE49-F238E27FC236}">
                <a16:creationId xmlns:a16="http://schemas.microsoft.com/office/drawing/2014/main" id="{CD5A5FD0-D063-79BA-B16F-9FB24E21AEF4}"/>
              </a:ext>
            </a:extLst>
          </p:cNvPr>
          <p:cNvSpPr/>
          <p:nvPr/>
        </p:nvSpPr>
        <p:spPr>
          <a:xfrm>
            <a:off x="899160" y="2340864"/>
            <a:ext cx="4663440" cy="500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CSS3</a:t>
            </a:r>
            <a:b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structure &amp; styling, served by ESP32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3" name="Text 31">
            <a:extLst>
              <a:ext uri="{FF2B5EF4-FFF2-40B4-BE49-F238E27FC236}">
                <a16:creationId xmlns:a16="http://schemas.microsoft.com/office/drawing/2014/main" id="{C2CFE47F-A085-4081-D88A-B376C8D9F183}"/>
              </a:ext>
            </a:extLst>
          </p:cNvPr>
          <p:cNvSpPr/>
          <p:nvPr/>
        </p:nvSpPr>
        <p:spPr>
          <a:xfrm>
            <a:off x="899160" y="3010405"/>
            <a:ext cx="4663440" cy="500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WebServer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Library</a:t>
            </a:r>
            <a:b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HTTP requests to relay/sensor handlers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5" name="Text 34">
            <a:extLst>
              <a:ext uri="{FF2B5EF4-FFF2-40B4-BE49-F238E27FC236}">
                <a16:creationId xmlns:a16="http://schemas.microsoft.com/office/drawing/2014/main" id="{24ECFFF5-443C-51E9-44EC-E7310648F206}"/>
              </a:ext>
            </a:extLst>
          </p:cNvPr>
          <p:cNvSpPr/>
          <p:nvPr/>
        </p:nvSpPr>
        <p:spPr>
          <a:xfrm>
            <a:off x="899160" y="3847595"/>
            <a:ext cx="4663440" cy="500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Adafruit DHT Sensor Library</a:t>
            </a:r>
            <a:b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DHT22 &amp; drives auto-fan logic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9" name="Text 40">
            <a:extLst>
              <a:ext uri="{FF2B5EF4-FFF2-40B4-BE49-F238E27FC236}">
                <a16:creationId xmlns:a16="http://schemas.microsoft.com/office/drawing/2014/main" id="{659B12B3-A5C3-2612-EBC6-C747C3C2B045}"/>
              </a:ext>
            </a:extLst>
          </p:cNvPr>
          <p:cNvSpPr/>
          <p:nvPr/>
        </p:nvSpPr>
        <p:spPr>
          <a:xfrm>
            <a:off x="899160" y="4684785"/>
            <a:ext cx="4663440" cy="639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IDE </a:t>
            </a:r>
          </a:p>
          <a:p>
            <a:r>
              <a:rPr lang="en-US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flash &amp; serial debug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42">
            <a:extLst>
              <a:ext uri="{FF2B5EF4-FFF2-40B4-BE49-F238E27FC236}">
                <a16:creationId xmlns:a16="http://schemas.microsoft.com/office/drawing/2014/main" id="{DD9E598F-56C2-87B9-9224-A130CD8830D8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Home Automation System  |  Kathmandu University</a:t>
            </a:r>
            <a:endParaRPr lang="en-US" sz="1000" dirty="0"/>
          </a:p>
        </p:txBody>
      </p:sp>
      <p:sp>
        <p:nvSpPr>
          <p:cNvPr id="6" name="Text 28">
            <a:extLst>
              <a:ext uri="{FF2B5EF4-FFF2-40B4-BE49-F238E27FC236}">
                <a16:creationId xmlns:a16="http://schemas.microsoft.com/office/drawing/2014/main" id="{81FC7F83-2C75-F847-58ED-BFCB673E5F17}"/>
              </a:ext>
            </a:extLst>
          </p:cNvPr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7114566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Circuit Schematic &amp; Wiring Diagram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9059" y="1187115"/>
            <a:ext cx="8202729" cy="5204541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81644"/>
              </p:ext>
            </p:extLst>
          </p:nvPr>
        </p:nvGraphicFramePr>
        <p:xfrm>
          <a:off x="8400500" y="1187115"/>
          <a:ext cx="3502742" cy="5204541"/>
        </p:xfrm>
        <a:graphic>
          <a:graphicData uri="http://schemas.openxmlformats.org/drawingml/2006/table">
            <a:tbl>
              <a:tblPr/>
              <a:tblGrid>
                <a:gridCol w="1151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4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68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083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Pin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Drives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47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Relay IN1–IN4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D16, D17, D18, D19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 1/2, Fan, Socket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66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DHT22 Data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4 (D4)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 &amp; humidity sensor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47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I2C SDA / SCL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I2C pins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16×2 LCD status display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Home Automation System  |  Kathmandu University</a:t>
            </a:r>
            <a:endParaRPr lang="en-US" sz="1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865EDEC-4570-3CBE-5F9E-67A90A734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367" y="1252728"/>
            <a:ext cx="8038149" cy="5038344"/>
          </a:xfrm>
          <a:prstGeom prst="rect">
            <a:avLst/>
          </a:prstGeom>
        </p:spPr>
      </p:pic>
      <p:sp>
        <p:nvSpPr>
          <p:cNvPr id="10" name="Text 28">
            <a:extLst>
              <a:ext uri="{FF2B5EF4-FFF2-40B4-BE49-F238E27FC236}">
                <a16:creationId xmlns:a16="http://schemas.microsoft.com/office/drawing/2014/main" id="{84038ACE-6BA7-DCC6-F0F6-EB08E02A3714}"/>
              </a:ext>
            </a:extLst>
          </p:cNvPr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19736FE-54B5-61C1-071D-B67F98DD0D68}"/>
              </a:ext>
            </a:extLst>
          </p:cNvPr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15C6C0E-5DFE-94DA-E969-4B4F2D809EEA}"/>
              </a:ext>
            </a:extLst>
          </p:cNvPr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</a:t>
            </a:r>
            <a:endParaRPr lang="en-US" sz="3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7CC59D7-86FD-7376-6014-22AFC19AA149}"/>
              </a:ext>
            </a:extLst>
          </p:cNvPr>
          <p:cNvSpPr/>
          <p:nvPr/>
        </p:nvSpPr>
        <p:spPr>
          <a:xfrm>
            <a:off x="566928" y="1170432"/>
            <a:ext cx="548640" cy="457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5AB411F-1341-35FF-F6CF-81CB896ACF97}"/>
              </a:ext>
            </a:extLst>
          </p:cNvPr>
          <p:cNvSpPr/>
          <p:nvPr/>
        </p:nvSpPr>
        <p:spPr>
          <a:xfrm>
            <a:off x="594360" y="13258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entities model how a request flows from the user through the ESP32 to the relays, appliances, and sensor readings.</a:t>
            </a:r>
            <a:endParaRPr lang="en-US" sz="1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9F1D6E4-5653-A00B-1001-52392B78B0BA}"/>
              </a:ext>
            </a:extLst>
          </p:cNvPr>
          <p:cNvSpPr/>
          <p:nvPr/>
        </p:nvSpPr>
        <p:spPr>
          <a:xfrm>
            <a:off x="3923148" y="1801368"/>
            <a:ext cx="4345398" cy="4306824"/>
          </a:xfrm>
          <a:prstGeom prst="roundRect">
            <a:avLst>
              <a:gd name="adj" fmla="val 1699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blurRad="127000" dist="38100" dir="5400000" algn="bl" rotWithShape="0">
              <a:srgbClr val="12233F">
                <a:alpha val="25000"/>
              </a:srgbClr>
            </a:outerShdw>
          </a:effectLst>
        </p:spPr>
      </p:sp>
      <p:pic>
        <p:nvPicPr>
          <p:cNvPr id="7" name="Image 0" descr="/mnt/user-data/outputs/media/er_diagram.png">
            <a:extLst>
              <a:ext uri="{FF2B5EF4-FFF2-40B4-BE49-F238E27FC236}">
                <a16:creationId xmlns:a16="http://schemas.microsoft.com/office/drawing/2014/main" id="{CE72AE6D-1405-01E9-CCDB-E475451E3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6300" y="1874520"/>
            <a:ext cx="4199094" cy="4160520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C3BDF3BD-318D-706E-5600-CE5AB759BAED}"/>
              </a:ext>
            </a:extLst>
          </p:cNvPr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11" name="Text 42">
            <a:extLst>
              <a:ext uri="{FF2B5EF4-FFF2-40B4-BE49-F238E27FC236}">
                <a16:creationId xmlns:a16="http://schemas.microsoft.com/office/drawing/2014/main" id="{DFF8DE57-9B75-68FF-4451-E472C84C6DB1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Home Automation System  |  Kathmandu University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9777465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7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Build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548640" cy="457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5" name="Shape 3"/>
          <p:cNvSpPr/>
          <p:nvPr/>
        </p:nvSpPr>
        <p:spPr>
          <a:xfrm>
            <a:off x="521208" y="1618488"/>
            <a:ext cx="5221224" cy="3952494"/>
          </a:xfrm>
          <a:prstGeom prst="roundRect">
            <a:avLst>
              <a:gd name="adj" fmla="val 1851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blurRad="127000" dist="38100" dir="5400000" algn="bl" rotWithShape="0">
              <a:srgbClr val="12233F">
                <a:alpha val="25000"/>
              </a:srgbClr>
            </a:outerShdw>
          </a:effectLst>
        </p:spPr>
      </p:sp>
      <p:pic>
        <p:nvPicPr>
          <p:cNvPr id="6" name="Image 0" descr="/mnt/user-data/outputs/media/breadboard_prototype_running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91640"/>
            <a:ext cx="5074920" cy="3806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566242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breadboard prototype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94360" y="595503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ESP32, 4-channel relay, DHT22 and LCD status display, all wired and powering up.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327648" y="1618488"/>
            <a:ext cx="5221224" cy="3952494"/>
          </a:xfrm>
          <a:prstGeom prst="roundRect">
            <a:avLst>
              <a:gd name="adj" fmla="val 1851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blurRad="127000" dist="38100" dir="5400000" algn="bl" rotWithShape="0">
              <a:srgbClr val="12233F">
                <a:alpha val="25000"/>
              </a:srgbClr>
            </a:outerShdw>
          </a:effectLst>
        </p:spPr>
      </p:sp>
      <p:pic>
        <p:nvPicPr>
          <p:cNvPr id="10" name="Image 1" descr="/mnt/user-data/outputs/media/wood_enclosur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691640"/>
            <a:ext cx="5074920" cy="38061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0" y="566242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Wooden enclosure (wood + paint work)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400800" y="595503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Compartmentalized plywood frame keeping mains wiring isolated from low-voltage electronics.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16" name="Text 42">
            <a:extLst>
              <a:ext uri="{FF2B5EF4-FFF2-40B4-BE49-F238E27FC236}">
                <a16:creationId xmlns:a16="http://schemas.microsoft.com/office/drawing/2014/main" id="{A10915BE-F464-7171-0FBB-6DF7B9D3EE18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Home Automation System  |  Kathmandu University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140468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Testing, Verification &amp;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64695" y="1163053"/>
            <a:ext cx="5743189" cy="5205663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0834" y="1259426"/>
            <a:ext cx="5471444" cy="429768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457199" y="1274303"/>
            <a:ext cx="53307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000" b="1" dirty="0">
              <a:solidFill>
                <a:schemeClr val="bg1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            Sensor Testing   </a:t>
            </a:r>
            <a:r>
              <a:rPr lang="en-US" sz="20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</a:t>
            </a:r>
          </a:p>
          <a:p>
            <a:pPr marL="0" indent="0" algn="ctr"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1901952" cy="1234440"/>
          </a:xfrm>
          <a:prstGeom prst="rect">
            <a:avLst/>
          </a:prstGeom>
          <a:solidFill>
            <a:srgbClr val="F0F3F6"/>
          </a:solidFill>
          <a:ln w="9525">
            <a:solidFill>
              <a:srgbClr val="E1E7EE"/>
            </a:solidFill>
            <a:prstDash val="solid"/>
          </a:ln>
        </p:spPr>
      </p:sp>
      <p:pic>
        <p:nvPicPr>
          <p:cNvPr id="9" name="Image 0" descr="/home/claude/pptx_work/report_images/unit_testing_rela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0567" y="1704070"/>
            <a:ext cx="5471444" cy="449788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3969138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b="1" dirty="0"/>
          </a:p>
        </p:txBody>
      </p:sp>
      <p:sp>
        <p:nvSpPr>
          <p:cNvPr id="12" name="Text 9"/>
          <p:cNvSpPr/>
          <p:nvPr/>
        </p:nvSpPr>
        <p:spPr>
          <a:xfrm>
            <a:off x="6440426" y="4327438"/>
            <a:ext cx="1901952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186250" y="1163053"/>
            <a:ext cx="5698238" cy="5213583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79492" y="1252728"/>
            <a:ext cx="5501674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8377989" y="2350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pic>
        <p:nvPicPr>
          <p:cNvPr id="18" name="Image 1" descr="/home/claude/pptx_work/report_images/sensor_testing_dht2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98759" y="1727574"/>
            <a:ext cx="5463140" cy="4474383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874264" y="3986784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b="1" dirty="0"/>
          </a:p>
        </p:txBody>
      </p:sp>
      <p:sp>
        <p:nvSpPr>
          <p:cNvPr id="21" name="Text 17"/>
          <p:cNvSpPr/>
          <p:nvPr/>
        </p:nvSpPr>
        <p:spPr>
          <a:xfrm>
            <a:off x="2898648" y="3765644"/>
            <a:ext cx="1901952" cy="2095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5157216" y="3969138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b="1" dirty="0"/>
          </a:p>
        </p:txBody>
      </p:sp>
      <p:sp>
        <p:nvSpPr>
          <p:cNvPr id="30" name="Text 25"/>
          <p:cNvSpPr/>
          <p:nvPr/>
        </p:nvSpPr>
        <p:spPr>
          <a:xfrm>
            <a:off x="5157216" y="3986784"/>
            <a:ext cx="1901952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6369477" y="1208774"/>
            <a:ext cx="5243403" cy="5102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000" b="1" dirty="0">
              <a:solidFill>
                <a:schemeClr val="bg1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Network Testing  </a:t>
            </a:r>
            <a:r>
              <a:rPr lang="en-US" sz="20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</a:t>
            </a:r>
            <a:endParaRPr lang="en-US" sz="20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8" name="Text 32"/>
          <p:cNvSpPr/>
          <p:nvPr/>
        </p:nvSpPr>
        <p:spPr>
          <a:xfrm>
            <a:off x="7415784" y="3977640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b="1" dirty="0"/>
          </a:p>
        </p:txBody>
      </p:sp>
      <p:sp>
        <p:nvSpPr>
          <p:cNvPr id="39" name="Text 33"/>
          <p:cNvSpPr/>
          <p:nvPr/>
        </p:nvSpPr>
        <p:spPr>
          <a:xfrm>
            <a:off x="7415784" y="3986784"/>
            <a:ext cx="1901952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endParaRPr lang="en-US" sz="1400" dirty="0"/>
          </a:p>
        </p:txBody>
      </p:sp>
      <p:sp>
        <p:nvSpPr>
          <p:cNvPr id="47" name="Text 40"/>
          <p:cNvSpPr/>
          <p:nvPr/>
        </p:nvSpPr>
        <p:spPr>
          <a:xfrm>
            <a:off x="9649968" y="3986784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b="1" dirty="0"/>
          </a:p>
        </p:txBody>
      </p:sp>
      <p:sp>
        <p:nvSpPr>
          <p:cNvPr id="50" name="Text 4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Home Automation System  |  Kathmandu University</a:t>
            </a:r>
            <a:endParaRPr lang="en-US" sz="1000" dirty="0"/>
          </a:p>
        </p:txBody>
      </p:sp>
      <p:sp>
        <p:nvSpPr>
          <p:cNvPr id="10" name="Text 28">
            <a:extLst>
              <a:ext uri="{FF2B5EF4-FFF2-40B4-BE49-F238E27FC236}">
                <a16:creationId xmlns:a16="http://schemas.microsoft.com/office/drawing/2014/main" id="{023FEE4F-A0CA-37C0-5F6A-96C46BA49BC6}"/>
              </a:ext>
            </a:extLst>
          </p:cNvPr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Dashboard Interface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548640" cy="457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341120"/>
            <a:ext cx="5266944" cy="4749265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blurRad="127000" dist="38100" dir="5400000" algn="bl" rotWithShape="0">
              <a:srgbClr val="12233F">
                <a:alpha val="25000"/>
              </a:srgbClr>
            </a:outerShdw>
          </a:effectLst>
        </p:spPr>
      </p:sp>
      <p:pic>
        <p:nvPicPr>
          <p:cNvPr id="6" name="Image 0" descr="/mnt/user-data/outputs/media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81328"/>
            <a:ext cx="5120640" cy="447029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0" y="1691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1501" y="1812341"/>
            <a:ext cx="261518" cy="26151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86600" y="1645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sensor readout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086600" y="19476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temperature and humidity from the DHT22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400800" y="27432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1501" y="2863901"/>
            <a:ext cx="261518" cy="26151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86600" y="2697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Per-appliance toggle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7086600" y="299923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ON/OFF control for all 4 relay channels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400800" y="37947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1501" y="3915461"/>
            <a:ext cx="261518" cy="26151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086600" y="3749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Auto-mode threshold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7086600" y="405079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User-configurable temperature setpoint for the fan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6400800" y="48463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1501" y="4967021"/>
            <a:ext cx="261518" cy="26151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08660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app, no cloud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7086600" y="51023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directly by the ESP32 over the home Wi-Fi network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26" name="Text 42">
            <a:extLst>
              <a:ext uri="{FF2B5EF4-FFF2-40B4-BE49-F238E27FC236}">
                <a16:creationId xmlns:a16="http://schemas.microsoft.com/office/drawing/2014/main" id="{E92DCC27-56E3-2C6F-46AB-8C2A5D37F4E3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Home Automation System  |  Kathmandu University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9395087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0">
            <a:extLst>
              <a:ext uri="{FF2B5EF4-FFF2-40B4-BE49-F238E27FC236}">
                <a16:creationId xmlns:a16="http://schemas.microsoft.com/office/drawing/2014/main" id="{C9F2FD2E-7A89-B56C-0AE1-EC8C560BC4D3}"/>
              </a:ext>
            </a:extLst>
          </p:cNvPr>
          <p:cNvSpPr/>
          <p:nvPr/>
        </p:nvSpPr>
        <p:spPr>
          <a:xfrm>
            <a:off x="587338" y="281032"/>
            <a:ext cx="10217020" cy="60475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3" name="Shape 35">
            <a:extLst>
              <a:ext uri="{FF2B5EF4-FFF2-40B4-BE49-F238E27FC236}">
                <a16:creationId xmlns:a16="http://schemas.microsoft.com/office/drawing/2014/main" id="{F9EA0C28-329F-AA13-1026-F4F05002F0E9}"/>
              </a:ext>
            </a:extLst>
          </p:cNvPr>
          <p:cNvSpPr/>
          <p:nvPr/>
        </p:nvSpPr>
        <p:spPr>
          <a:xfrm>
            <a:off x="723695" y="440950"/>
            <a:ext cx="9787374" cy="712672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pic>
        <p:nvPicPr>
          <p:cNvPr id="5" name="Image 4" descr="/home/claude/pptx_work/report_images/integration_testing.png">
            <a:extLst>
              <a:ext uri="{FF2B5EF4-FFF2-40B4-BE49-F238E27FC236}">
                <a16:creationId xmlns:a16="http://schemas.microsoft.com/office/drawing/2014/main" id="{E2D0980C-F7AC-D593-2C59-8780BA40A4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3"/>
          <a:stretch>
            <a:fillRect/>
          </a:stretch>
        </p:blipFill>
        <p:spPr>
          <a:xfrm>
            <a:off x="723694" y="2096162"/>
            <a:ext cx="10080663" cy="3167450"/>
          </a:xfrm>
          <a:prstGeom prst="rect">
            <a:avLst/>
          </a:prstGeom>
        </p:spPr>
      </p:pic>
      <p:sp>
        <p:nvSpPr>
          <p:cNvPr id="7" name="Text 39">
            <a:extLst>
              <a:ext uri="{FF2B5EF4-FFF2-40B4-BE49-F238E27FC236}">
                <a16:creationId xmlns:a16="http://schemas.microsoft.com/office/drawing/2014/main" id="{CD7A6239-B379-FCE4-1BDC-9A468CBC2855}"/>
              </a:ext>
            </a:extLst>
          </p:cNvPr>
          <p:cNvSpPr/>
          <p:nvPr/>
        </p:nvSpPr>
        <p:spPr>
          <a:xfrm>
            <a:off x="723695" y="529389"/>
            <a:ext cx="9559294" cy="5468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Integration Testing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52CC62-37F0-067C-799D-5E761E1CB307}"/>
              </a:ext>
            </a:extLst>
          </p:cNvPr>
          <p:cNvSpPr txBox="1"/>
          <p:nvPr/>
        </p:nvSpPr>
        <p:spPr>
          <a:xfrm>
            <a:off x="587338" y="109698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Full System</a:t>
            </a:r>
            <a:endParaRPr lang="en-US" sz="2400" b="1" dirty="0"/>
          </a:p>
        </p:txBody>
      </p:sp>
      <p:sp>
        <p:nvSpPr>
          <p:cNvPr id="11" name="Text 41">
            <a:extLst>
              <a:ext uri="{FF2B5EF4-FFF2-40B4-BE49-F238E27FC236}">
                <a16:creationId xmlns:a16="http://schemas.microsoft.com/office/drawing/2014/main" id="{A953269F-E2DE-4E7C-E8C8-A758AB28237B}"/>
              </a:ext>
            </a:extLst>
          </p:cNvPr>
          <p:cNvSpPr/>
          <p:nvPr/>
        </p:nvSpPr>
        <p:spPr>
          <a:xfrm>
            <a:off x="2746925" y="1109745"/>
            <a:ext cx="7335537" cy="4616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Light, fan &amp; socket run together, with the dashboard reflecting state in real time.</a:t>
            </a:r>
            <a:endParaRPr lang="en-US" sz="1600" dirty="0"/>
          </a:p>
        </p:txBody>
      </p:sp>
      <p:sp>
        <p:nvSpPr>
          <p:cNvPr id="13" name="Text 37">
            <a:extLst>
              <a:ext uri="{FF2B5EF4-FFF2-40B4-BE49-F238E27FC236}">
                <a16:creationId xmlns:a16="http://schemas.microsoft.com/office/drawing/2014/main" id="{E7FDFF7E-D044-DD65-735E-3A877BF8720A}"/>
              </a:ext>
            </a:extLst>
          </p:cNvPr>
          <p:cNvSpPr/>
          <p:nvPr/>
        </p:nvSpPr>
        <p:spPr>
          <a:xfrm>
            <a:off x="848948" y="59697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4" name="Text 42">
            <a:extLst>
              <a:ext uri="{FF2B5EF4-FFF2-40B4-BE49-F238E27FC236}">
                <a16:creationId xmlns:a16="http://schemas.microsoft.com/office/drawing/2014/main" id="{43AFFA26-A002-D842-589E-A79959C23ECC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Home Automation System  |  Kathmandu University</a:t>
            </a:r>
            <a:endParaRPr lang="en-US" sz="1000" dirty="0"/>
          </a:p>
        </p:txBody>
      </p:sp>
      <p:sp>
        <p:nvSpPr>
          <p:cNvPr id="8" name="Text 28">
            <a:extLst>
              <a:ext uri="{FF2B5EF4-FFF2-40B4-BE49-F238E27FC236}">
                <a16:creationId xmlns:a16="http://schemas.microsoft.com/office/drawing/2014/main" id="{845F2778-184E-4DDA-A8F1-A77EFEA3929B}"/>
              </a:ext>
            </a:extLst>
          </p:cNvPr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022232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>
            <a:alpha val="87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Prototype Delivers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1A315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202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independently via relay channels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83280" y="16916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1A315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9202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±0.5°C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520440" y="2697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accuracy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0440" y="30175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 temperature reading precision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72200" y="16916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1A315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9202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309360" y="2697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30175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self-hosted on the ESP32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961120" y="16916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1A315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98280" y="19202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098280" y="2697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stages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098280" y="30175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sensor, network, dashboard, integration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4360" y="40233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confirmed that relay switching, sensor readings, Wi-Fi connectivity, and the dashboard all function reliably together — meeting every objective set out in Chapter 1 of the report.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4" name="Text 42">
            <a:extLst>
              <a:ext uri="{FF2B5EF4-FFF2-40B4-BE49-F238E27FC236}">
                <a16:creationId xmlns:a16="http://schemas.microsoft.com/office/drawing/2014/main" id="{B55FE890-73E1-50A6-5096-4B5AB00898D6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Home Automation System  |  Kathmandu University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4373259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Applications &amp; Target Audience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 everyday people and real-life spaces.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51660"/>
            <a:ext cx="3596335" cy="1860804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2121408"/>
            <a:ext cx="777240" cy="77724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7" name="Image 0" descr="/home/claude/emoji_png/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2226564"/>
            <a:ext cx="502920" cy="502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298448" y="2066544"/>
            <a:ext cx="274320" cy="2743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9" name="Text 6"/>
          <p:cNvSpPr/>
          <p:nvPr/>
        </p:nvSpPr>
        <p:spPr>
          <a:xfrm>
            <a:off x="1298448" y="2066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627632" y="2084832"/>
            <a:ext cx="224302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Residential Smart Homes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58368" y="2944368"/>
            <a:ext cx="3193999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daily life easier by allowing remote control of lights, fans, and other appliances from a phone or computer.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82135" y="1837944"/>
            <a:ext cx="3596335" cy="187452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83303" y="2121408"/>
            <a:ext cx="777240" cy="77724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4" name="Image 1" descr="/home/claude/emoji_png/apartm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5891" y="2226564"/>
            <a:ext cx="502920" cy="5029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123383" y="2066544"/>
            <a:ext cx="274320" cy="2743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6" name="Text 12"/>
          <p:cNvSpPr/>
          <p:nvPr/>
        </p:nvSpPr>
        <p:spPr>
          <a:xfrm>
            <a:off x="5123383" y="2066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452567" y="2084832"/>
            <a:ext cx="224302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Rental Apartments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4483303" y="2944368"/>
            <a:ext cx="3193999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for rented spaces—no permanent wiring changes needed. Just plug, set up, and control.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107070" y="1837944"/>
            <a:ext cx="3596335" cy="1898904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08238" y="2121408"/>
            <a:ext cx="777240" cy="77724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21" name="Image 2" descr="/home/claude/emoji_png/elderl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0826" y="2226564"/>
            <a:ext cx="502920" cy="50292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8948318" y="2066544"/>
            <a:ext cx="274320" cy="2743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3" name="Text 18"/>
          <p:cNvSpPr/>
          <p:nvPr/>
        </p:nvSpPr>
        <p:spPr>
          <a:xfrm>
            <a:off x="8948318" y="2066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9277502" y="2084832"/>
            <a:ext cx="224302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Elderly &amp; Senior Citizens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8308238" y="2944368"/>
            <a:ext cx="3193999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Allows appliances to be controlled easily without reaching wall switches, promoting safety and independence.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466344" y="3890772"/>
            <a:ext cx="3596335" cy="181356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58368" y="4014216"/>
            <a:ext cx="777240" cy="77724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28" name="Image 3" descr="/home/claude/emoji_png/wheelchai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956" y="4119372"/>
            <a:ext cx="502920" cy="50292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1298448" y="3959352"/>
            <a:ext cx="274320" cy="2743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0" name="Text 24"/>
          <p:cNvSpPr/>
          <p:nvPr/>
        </p:nvSpPr>
        <p:spPr>
          <a:xfrm>
            <a:off x="1298448" y="3959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1617801" y="4069080"/>
            <a:ext cx="2243023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endParaRPr lang="en-US" sz="1350" b="1" dirty="0">
              <a:solidFill>
                <a:srgbClr val="1B2A4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with Disabilities</a:t>
            </a:r>
            <a:endParaRPr lang="en-US" sz="1350" dirty="0"/>
          </a:p>
        </p:txBody>
      </p:sp>
      <p:sp>
        <p:nvSpPr>
          <p:cNvPr id="32" name="Text 26"/>
          <p:cNvSpPr/>
          <p:nvPr/>
        </p:nvSpPr>
        <p:spPr>
          <a:xfrm>
            <a:off x="658368" y="4837176"/>
            <a:ext cx="31939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endParaRPr lang="en-US" sz="1200" dirty="0">
              <a:solidFill>
                <a:srgbClr val="4A4A4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greater independence by providing easy remote control of home appliances from any accessible device.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4277563" y="3890772"/>
            <a:ext cx="3596335" cy="181356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4" name="Shape 28"/>
          <p:cNvSpPr/>
          <p:nvPr/>
        </p:nvSpPr>
        <p:spPr>
          <a:xfrm>
            <a:off x="4483303" y="4014216"/>
            <a:ext cx="777240" cy="77724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35" name="Image 4" descr="/home/claude/emoji_png/stude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5891" y="4119372"/>
            <a:ext cx="502920" cy="502920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5123383" y="3959352"/>
            <a:ext cx="274320" cy="2743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7" name="Text 30"/>
          <p:cNvSpPr/>
          <p:nvPr/>
        </p:nvSpPr>
        <p:spPr>
          <a:xfrm>
            <a:off x="5123383" y="3959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5460796" y="4074795"/>
            <a:ext cx="224302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endParaRPr lang="en-US" sz="1350" b="1" dirty="0">
              <a:solidFill>
                <a:srgbClr val="1B2A4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&amp; Hobbyists</a:t>
            </a:r>
            <a:endParaRPr lang="en-US" sz="1350" dirty="0"/>
          </a:p>
        </p:txBody>
      </p:sp>
      <p:sp>
        <p:nvSpPr>
          <p:cNvPr id="39" name="Text 32"/>
          <p:cNvSpPr/>
          <p:nvPr/>
        </p:nvSpPr>
        <p:spPr>
          <a:xfrm>
            <a:off x="4483303" y="4837176"/>
            <a:ext cx="3193999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endParaRPr lang="en-US" sz="1200" dirty="0">
              <a:solidFill>
                <a:srgbClr val="4A4A4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affordable and open platform to learn, explore, and build IoT and embedded systems.</a:t>
            </a:r>
            <a:endParaRPr lang="en-US" sz="1200" dirty="0"/>
          </a:p>
        </p:txBody>
      </p:sp>
      <p:sp>
        <p:nvSpPr>
          <p:cNvPr id="40" name="Shape 33"/>
          <p:cNvSpPr/>
          <p:nvPr/>
        </p:nvSpPr>
        <p:spPr>
          <a:xfrm>
            <a:off x="8107985" y="3890772"/>
            <a:ext cx="3596335" cy="1816608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1" name="Shape 34"/>
          <p:cNvSpPr/>
          <p:nvPr/>
        </p:nvSpPr>
        <p:spPr>
          <a:xfrm>
            <a:off x="8308238" y="4014216"/>
            <a:ext cx="777240" cy="77724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42" name="Image 5" descr="/home/claude/emoji_png/offic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0826" y="4119372"/>
            <a:ext cx="502920" cy="502920"/>
          </a:xfrm>
          <a:prstGeom prst="rect">
            <a:avLst/>
          </a:prstGeom>
        </p:spPr>
      </p:pic>
      <p:sp>
        <p:nvSpPr>
          <p:cNvPr id="43" name="Shape 35"/>
          <p:cNvSpPr/>
          <p:nvPr/>
        </p:nvSpPr>
        <p:spPr>
          <a:xfrm>
            <a:off x="8948318" y="3959352"/>
            <a:ext cx="274320" cy="2743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4" name="Text 36"/>
          <p:cNvSpPr/>
          <p:nvPr/>
        </p:nvSpPr>
        <p:spPr>
          <a:xfrm>
            <a:off x="8948318" y="3959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45" name="Text 37"/>
          <p:cNvSpPr/>
          <p:nvPr/>
        </p:nvSpPr>
        <p:spPr>
          <a:xfrm>
            <a:off x="9277502" y="4074795"/>
            <a:ext cx="224302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endParaRPr lang="en-US" sz="1350" b="1" dirty="0">
              <a:solidFill>
                <a:srgbClr val="1B2A4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Offices &amp; Labs</a:t>
            </a:r>
            <a:endParaRPr lang="en-US" sz="1350" dirty="0"/>
          </a:p>
        </p:txBody>
      </p:sp>
      <p:sp>
        <p:nvSpPr>
          <p:cNvPr id="46" name="Text 38"/>
          <p:cNvSpPr/>
          <p:nvPr/>
        </p:nvSpPr>
        <p:spPr>
          <a:xfrm>
            <a:off x="8308238" y="4837176"/>
            <a:ext cx="31939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endParaRPr lang="en-US" sz="1200" dirty="0">
              <a:solidFill>
                <a:srgbClr val="4A4A4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Helps automate and control appliances from one place, improving convenience &amp; saving energy.</a:t>
            </a:r>
            <a:endParaRPr lang="en-US" sz="1200" dirty="0"/>
          </a:p>
        </p:txBody>
      </p:sp>
      <p:sp>
        <p:nvSpPr>
          <p:cNvPr id="51" name="Shape 42"/>
          <p:cNvSpPr/>
          <p:nvPr/>
        </p:nvSpPr>
        <p:spPr>
          <a:xfrm>
            <a:off x="4709160" y="5733288"/>
            <a:ext cx="0" cy="438912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55" name="Text 32">
            <a:extLst>
              <a:ext uri="{FF2B5EF4-FFF2-40B4-BE49-F238E27FC236}">
                <a16:creationId xmlns:a16="http://schemas.microsoft.com/office/drawing/2014/main" id="{8E1FCBA8-2ED4-3B46-142D-594189FFDC38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Home Automation System  |  Kathmandu University</a:t>
            </a:r>
            <a:endParaRPr lang="en-US" sz="1000" dirty="0"/>
          </a:p>
        </p:txBody>
      </p:sp>
      <p:sp>
        <p:nvSpPr>
          <p:cNvPr id="57" name="Text 28">
            <a:extLst>
              <a:ext uri="{FF2B5EF4-FFF2-40B4-BE49-F238E27FC236}">
                <a16:creationId xmlns:a16="http://schemas.microsoft.com/office/drawing/2014/main" id="{AE43A5AD-D454-91E6-5385-EDC7C6C62740}"/>
              </a:ext>
            </a:extLst>
          </p:cNvPr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1045270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0">
            <a:extLst>
              <a:ext uri="{FF2B5EF4-FFF2-40B4-BE49-F238E27FC236}">
                <a16:creationId xmlns:a16="http://schemas.microsoft.com/office/drawing/2014/main" id="{A2602AAB-BB0B-534F-4348-77FD19AE1773}"/>
              </a:ext>
            </a:extLst>
          </p:cNvPr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</a:t>
            </a:r>
            <a:endParaRPr lang="en-US" sz="1200" dirty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54C775A5-EF60-D315-5239-3D5E5D66753A}"/>
              </a:ext>
            </a:extLst>
          </p:cNvPr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30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D9117FE6-147A-1286-0F4F-B732BF094761}"/>
              </a:ext>
            </a:extLst>
          </p:cNvPr>
          <p:cNvSpPr/>
          <p:nvPr/>
        </p:nvSpPr>
        <p:spPr>
          <a:xfrm>
            <a:off x="566928" y="1170432"/>
            <a:ext cx="548640" cy="457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3" name="Shape 3">
            <a:extLst>
              <a:ext uri="{FF2B5EF4-FFF2-40B4-BE49-F238E27FC236}">
                <a16:creationId xmlns:a16="http://schemas.microsoft.com/office/drawing/2014/main" id="{D2306B7E-E09B-4C93-4114-3B6F61C024C7}"/>
              </a:ext>
            </a:extLst>
          </p:cNvPr>
          <p:cNvSpPr/>
          <p:nvPr/>
        </p:nvSpPr>
        <p:spPr>
          <a:xfrm>
            <a:off x="594360" y="150876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B4147045-62C6-30F8-A3B4-46C111EA7205}"/>
              </a:ext>
            </a:extLst>
          </p:cNvPr>
          <p:cNvSpPr/>
          <p:nvPr/>
        </p:nvSpPr>
        <p:spPr>
          <a:xfrm>
            <a:off x="758952" y="1851660"/>
            <a:ext cx="548640" cy="548640"/>
          </a:xfrm>
          <a:prstGeom prst="ellipse">
            <a:avLst/>
          </a:prstGeom>
          <a:solidFill>
            <a:srgbClr val="C4472F"/>
          </a:solidFill>
          <a:ln/>
        </p:spPr>
      </p:sp>
      <p:pic>
        <p:nvPicPr>
          <p:cNvPr id="35" name="Image 0" descr="preencoded.png">
            <a:extLst>
              <a:ext uri="{FF2B5EF4-FFF2-40B4-BE49-F238E27FC236}">
                <a16:creationId xmlns:a16="http://schemas.microsoft.com/office/drawing/2014/main" id="{99952222-5C47-45DC-AC53-43ECA833C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626" y="1983334"/>
            <a:ext cx="285293" cy="285293"/>
          </a:xfrm>
          <a:prstGeom prst="rect">
            <a:avLst/>
          </a:prstGeom>
        </p:spPr>
      </p:pic>
      <p:sp>
        <p:nvSpPr>
          <p:cNvPr id="36" name="Text 5">
            <a:extLst>
              <a:ext uri="{FF2B5EF4-FFF2-40B4-BE49-F238E27FC236}">
                <a16:creationId xmlns:a16="http://schemas.microsoft.com/office/drawing/2014/main" id="{1C9136C0-F53C-AFE3-35C5-D8DA56D328BD}"/>
              </a:ext>
            </a:extLst>
          </p:cNvPr>
          <p:cNvSpPr/>
          <p:nvPr/>
        </p:nvSpPr>
        <p:spPr>
          <a:xfrm>
            <a:off x="1435608" y="16276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dependent</a:t>
            </a:r>
            <a:endParaRPr lang="en-US" sz="1400" dirty="0"/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37A98A7E-52D7-6F3C-2DEA-F61081A79C66}"/>
              </a:ext>
            </a:extLst>
          </p:cNvPr>
          <p:cNvSpPr/>
          <p:nvPr/>
        </p:nvSpPr>
        <p:spPr>
          <a:xfrm>
            <a:off x="1435608" y="196596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Remote/manual control is unavailable if the home </a:t>
            </a:r>
            <a:r>
              <a:rPr lang="en-US" sz="1400" dirty="0" err="1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</a:t>
            </a: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network goes down</a:t>
            </a:r>
            <a:endParaRPr lang="en-US" sz="1400" dirty="0"/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5EAE489E-21F7-4089-2C8F-FBE6297E409D}"/>
              </a:ext>
            </a:extLst>
          </p:cNvPr>
          <p:cNvSpPr/>
          <p:nvPr/>
        </p:nvSpPr>
        <p:spPr>
          <a:xfrm>
            <a:off x="6217920" y="150876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39" name="Shape 8">
            <a:extLst>
              <a:ext uri="{FF2B5EF4-FFF2-40B4-BE49-F238E27FC236}">
                <a16:creationId xmlns:a16="http://schemas.microsoft.com/office/drawing/2014/main" id="{E4FB232F-A2E7-A025-1278-6313AE87AFD6}"/>
              </a:ext>
            </a:extLst>
          </p:cNvPr>
          <p:cNvSpPr/>
          <p:nvPr/>
        </p:nvSpPr>
        <p:spPr>
          <a:xfrm>
            <a:off x="6382512" y="1851660"/>
            <a:ext cx="548640" cy="548640"/>
          </a:xfrm>
          <a:prstGeom prst="ellipse">
            <a:avLst/>
          </a:prstGeom>
          <a:solidFill>
            <a:srgbClr val="C4472F"/>
          </a:solidFill>
          <a:ln/>
        </p:spPr>
      </p:sp>
      <p:pic>
        <p:nvPicPr>
          <p:cNvPr id="40" name="Image 1" descr="preencoded.png">
            <a:extLst>
              <a:ext uri="{FF2B5EF4-FFF2-40B4-BE49-F238E27FC236}">
                <a16:creationId xmlns:a16="http://schemas.microsoft.com/office/drawing/2014/main" id="{A3201043-F566-CF39-AEAC-D089668F13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4186" y="1983334"/>
            <a:ext cx="285293" cy="285293"/>
          </a:xfrm>
          <a:prstGeom prst="rect">
            <a:avLst/>
          </a:prstGeom>
        </p:spPr>
      </p:pic>
      <p:sp>
        <p:nvSpPr>
          <p:cNvPr id="41" name="Text 9">
            <a:extLst>
              <a:ext uri="{FF2B5EF4-FFF2-40B4-BE49-F238E27FC236}">
                <a16:creationId xmlns:a16="http://schemas.microsoft.com/office/drawing/2014/main" id="{E53B443C-CA86-572E-BFBF-2AE1FA9EA711}"/>
              </a:ext>
            </a:extLst>
          </p:cNvPr>
          <p:cNvSpPr/>
          <p:nvPr/>
        </p:nvSpPr>
        <p:spPr>
          <a:xfrm>
            <a:off x="7059168" y="16276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external/cloud access</a:t>
            </a:r>
            <a:endParaRPr lang="en-US" sz="14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F04601F6-305E-CBCF-05E1-8A8196B4CC4F}"/>
              </a:ext>
            </a:extLst>
          </p:cNvPr>
          <p:cNvSpPr/>
          <p:nvPr/>
        </p:nvSpPr>
        <p:spPr>
          <a:xfrm>
            <a:off x="7059168" y="196596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controlled from outside the local Wi-Fi network (e.g. mobile data)</a:t>
            </a:r>
            <a:endParaRPr lang="en-US" sz="1400" dirty="0"/>
          </a:p>
        </p:txBody>
      </p:sp>
      <p:sp>
        <p:nvSpPr>
          <p:cNvPr id="43" name="Shape 11">
            <a:extLst>
              <a:ext uri="{FF2B5EF4-FFF2-40B4-BE49-F238E27FC236}">
                <a16:creationId xmlns:a16="http://schemas.microsoft.com/office/drawing/2014/main" id="{CD7B2C6A-4A87-1AE2-629B-E47E77E4648F}"/>
              </a:ext>
            </a:extLst>
          </p:cNvPr>
          <p:cNvSpPr/>
          <p:nvPr/>
        </p:nvSpPr>
        <p:spPr>
          <a:xfrm>
            <a:off x="594360" y="292608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44" name="Shape 12">
            <a:extLst>
              <a:ext uri="{FF2B5EF4-FFF2-40B4-BE49-F238E27FC236}">
                <a16:creationId xmlns:a16="http://schemas.microsoft.com/office/drawing/2014/main" id="{A535067D-0FAD-0C18-E1B8-AF6CA04FF4B3}"/>
              </a:ext>
            </a:extLst>
          </p:cNvPr>
          <p:cNvSpPr/>
          <p:nvPr/>
        </p:nvSpPr>
        <p:spPr>
          <a:xfrm>
            <a:off x="758952" y="3268980"/>
            <a:ext cx="548640" cy="548640"/>
          </a:xfrm>
          <a:prstGeom prst="ellipse">
            <a:avLst/>
          </a:prstGeom>
          <a:solidFill>
            <a:srgbClr val="C4472F"/>
          </a:solidFill>
          <a:ln/>
        </p:spPr>
      </p:sp>
      <p:pic>
        <p:nvPicPr>
          <p:cNvPr id="45" name="Image 2" descr="preencoded.png">
            <a:extLst>
              <a:ext uri="{FF2B5EF4-FFF2-40B4-BE49-F238E27FC236}">
                <a16:creationId xmlns:a16="http://schemas.microsoft.com/office/drawing/2014/main" id="{D9D28F32-4007-4A7A-D3D3-D2D2039067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626" y="3400654"/>
            <a:ext cx="285293" cy="285293"/>
          </a:xfrm>
          <a:prstGeom prst="rect">
            <a:avLst/>
          </a:prstGeom>
        </p:spPr>
      </p:pic>
      <p:sp>
        <p:nvSpPr>
          <p:cNvPr id="46" name="Text 13">
            <a:extLst>
              <a:ext uri="{FF2B5EF4-FFF2-40B4-BE49-F238E27FC236}">
                <a16:creationId xmlns:a16="http://schemas.microsoft.com/office/drawing/2014/main" id="{E819CF1B-2EF2-85ED-CD25-41F512C21692}"/>
              </a:ext>
            </a:extLst>
          </p:cNvPr>
          <p:cNvSpPr/>
          <p:nvPr/>
        </p:nvSpPr>
        <p:spPr>
          <a:xfrm>
            <a:off x="1435608" y="30449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threshold logic</a:t>
            </a:r>
            <a:endParaRPr lang="en-US" sz="1400" dirty="0"/>
          </a:p>
        </p:txBody>
      </p:sp>
      <p:sp>
        <p:nvSpPr>
          <p:cNvPr id="47" name="Text 14">
            <a:extLst>
              <a:ext uri="{FF2B5EF4-FFF2-40B4-BE49-F238E27FC236}">
                <a16:creationId xmlns:a16="http://schemas.microsoft.com/office/drawing/2014/main" id="{39085BD3-F0AA-3B97-D9E0-2FD153511F93}"/>
              </a:ext>
            </a:extLst>
          </p:cNvPr>
          <p:cNvSpPr/>
          <p:nvPr/>
        </p:nvSpPr>
        <p:spPr>
          <a:xfrm>
            <a:off x="1435608" y="338328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Uses a fixed temperature threshold only.</a:t>
            </a:r>
          </a:p>
        </p:txBody>
      </p:sp>
      <p:sp>
        <p:nvSpPr>
          <p:cNvPr id="48" name="Shape 15">
            <a:extLst>
              <a:ext uri="{FF2B5EF4-FFF2-40B4-BE49-F238E27FC236}">
                <a16:creationId xmlns:a16="http://schemas.microsoft.com/office/drawing/2014/main" id="{7DB216A5-4FDE-8EE0-8982-B23F7082BF4D}"/>
              </a:ext>
            </a:extLst>
          </p:cNvPr>
          <p:cNvSpPr/>
          <p:nvPr/>
        </p:nvSpPr>
        <p:spPr>
          <a:xfrm>
            <a:off x="6217920" y="292608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D53819BD-7A6F-1E54-E4A6-664F01F587E5}"/>
              </a:ext>
            </a:extLst>
          </p:cNvPr>
          <p:cNvSpPr/>
          <p:nvPr/>
        </p:nvSpPr>
        <p:spPr>
          <a:xfrm>
            <a:off x="6382512" y="3268980"/>
            <a:ext cx="548640" cy="548640"/>
          </a:xfrm>
          <a:prstGeom prst="ellipse">
            <a:avLst/>
          </a:prstGeom>
          <a:solidFill>
            <a:srgbClr val="C4472F"/>
          </a:solidFill>
          <a:ln/>
        </p:spPr>
      </p:sp>
      <p:pic>
        <p:nvPicPr>
          <p:cNvPr id="50" name="Image 3" descr="preencoded.png">
            <a:extLst>
              <a:ext uri="{FF2B5EF4-FFF2-40B4-BE49-F238E27FC236}">
                <a16:creationId xmlns:a16="http://schemas.microsoft.com/office/drawing/2014/main" id="{60036F71-C28D-962B-CB48-F1C6858802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4186" y="3400654"/>
            <a:ext cx="285293" cy="285293"/>
          </a:xfrm>
          <a:prstGeom prst="rect">
            <a:avLst/>
          </a:prstGeom>
        </p:spPr>
      </p:pic>
      <p:sp>
        <p:nvSpPr>
          <p:cNvPr id="51" name="Text 17">
            <a:extLst>
              <a:ext uri="{FF2B5EF4-FFF2-40B4-BE49-F238E27FC236}">
                <a16:creationId xmlns:a16="http://schemas.microsoft.com/office/drawing/2014/main" id="{D6CDC2FC-5598-6C65-0682-7C1499D61CC3}"/>
              </a:ext>
            </a:extLst>
          </p:cNvPr>
          <p:cNvSpPr/>
          <p:nvPr/>
        </p:nvSpPr>
        <p:spPr>
          <a:xfrm>
            <a:off x="7059168" y="30449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power rating</a:t>
            </a:r>
            <a:endParaRPr lang="en-US" sz="1400" dirty="0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6ED139CB-6FC9-D585-F28D-E25B377FB36F}"/>
              </a:ext>
            </a:extLst>
          </p:cNvPr>
          <p:cNvSpPr/>
          <p:nvPr/>
        </p:nvSpPr>
        <p:spPr>
          <a:xfrm>
            <a:off x="7059168" y="338328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for 10A/250V AC per channel — not suitable for higher-power appliances </a:t>
            </a:r>
            <a:endParaRPr lang="en-US" sz="1200" dirty="0"/>
          </a:p>
        </p:txBody>
      </p:sp>
      <p:sp>
        <p:nvSpPr>
          <p:cNvPr id="53" name="Shape 19">
            <a:extLst>
              <a:ext uri="{FF2B5EF4-FFF2-40B4-BE49-F238E27FC236}">
                <a16:creationId xmlns:a16="http://schemas.microsoft.com/office/drawing/2014/main" id="{31AFDFB9-813D-C16F-E6BA-0BA8B4A254A9}"/>
              </a:ext>
            </a:extLst>
          </p:cNvPr>
          <p:cNvSpPr/>
          <p:nvPr/>
        </p:nvSpPr>
        <p:spPr>
          <a:xfrm>
            <a:off x="594360" y="434340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54" name="Shape 20">
            <a:extLst>
              <a:ext uri="{FF2B5EF4-FFF2-40B4-BE49-F238E27FC236}">
                <a16:creationId xmlns:a16="http://schemas.microsoft.com/office/drawing/2014/main" id="{021E92FC-A9D4-B3F5-A06C-D23EA7EE778D}"/>
              </a:ext>
            </a:extLst>
          </p:cNvPr>
          <p:cNvSpPr/>
          <p:nvPr/>
        </p:nvSpPr>
        <p:spPr>
          <a:xfrm>
            <a:off x="758952" y="4686300"/>
            <a:ext cx="548640" cy="548640"/>
          </a:xfrm>
          <a:prstGeom prst="ellipse">
            <a:avLst/>
          </a:prstGeom>
          <a:solidFill>
            <a:srgbClr val="C4472F"/>
          </a:solidFill>
          <a:ln/>
        </p:spPr>
      </p:sp>
      <p:pic>
        <p:nvPicPr>
          <p:cNvPr id="55" name="Image 4" descr="preencoded.png">
            <a:extLst>
              <a:ext uri="{FF2B5EF4-FFF2-40B4-BE49-F238E27FC236}">
                <a16:creationId xmlns:a16="http://schemas.microsoft.com/office/drawing/2014/main" id="{68D15091-3241-CDD8-98EA-BF8D1C4B97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0626" y="4817974"/>
            <a:ext cx="285293" cy="285293"/>
          </a:xfrm>
          <a:prstGeom prst="rect">
            <a:avLst/>
          </a:prstGeom>
        </p:spPr>
      </p:pic>
      <p:sp>
        <p:nvSpPr>
          <p:cNvPr id="56" name="Text 21">
            <a:extLst>
              <a:ext uri="{FF2B5EF4-FFF2-40B4-BE49-F238E27FC236}">
                <a16:creationId xmlns:a16="http://schemas.microsoft.com/office/drawing/2014/main" id="{3E932BF9-0317-FDFD-228B-09C640C06BBA}"/>
              </a:ext>
            </a:extLst>
          </p:cNvPr>
          <p:cNvSpPr/>
          <p:nvPr/>
        </p:nvSpPr>
        <p:spPr>
          <a:xfrm>
            <a:off x="1435608" y="44622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module not yet integrated</a:t>
            </a:r>
            <a:endParaRPr lang="en-US" sz="1400" dirty="0"/>
          </a:p>
        </p:txBody>
      </p:sp>
      <p:sp>
        <p:nvSpPr>
          <p:cNvPr id="57" name="Text 22">
            <a:extLst>
              <a:ext uri="{FF2B5EF4-FFF2-40B4-BE49-F238E27FC236}">
                <a16:creationId xmlns:a16="http://schemas.microsoft.com/office/drawing/2014/main" id="{3A5FBCCA-9E8B-82DC-DBA8-45300BD2793D}"/>
              </a:ext>
            </a:extLst>
          </p:cNvPr>
          <p:cNvSpPr/>
          <p:nvPr/>
        </p:nvSpPr>
        <p:spPr>
          <a:xfrm>
            <a:off x="1435608" y="480060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INMP441/MAX98357A wiring has started but isn't in the working prototype</a:t>
            </a:r>
            <a:endParaRPr lang="en-US" sz="1400" dirty="0"/>
          </a:p>
        </p:txBody>
      </p:sp>
      <p:sp>
        <p:nvSpPr>
          <p:cNvPr id="58" name="Shape 23">
            <a:extLst>
              <a:ext uri="{FF2B5EF4-FFF2-40B4-BE49-F238E27FC236}">
                <a16:creationId xmlns:a16="http://schemas.microsoft.com/office/drawing/2014/main" id="{E035EAC6-1E12-1CF6-5F9B-EAF13F656AC9}"/>
              </a:ext>
            </a:extLst>
          </p:cNvPr>
          <p:cNvSpPr/>
          <p:nvPr/>
        </p:nvSpPr>
        <p:spPr>
          <a:xfrm>
            <a:off x="6217920" y="434340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59" name="Shape 24">
            <a:extLst>
              <a:ext uri="{FF2B5EF4-FFF2-40B4-BE49-F238E27FC236}">
                <a16:creationId xmlns:a16="http://schemas.microsoft.com/office/drawing/2014/main" id="{4E1076A6-9CD3-08C1-AE8F-735AF4C68D38}"/>
              </a:ext>
            </a:extLst>
          </p:cNvPr>
          <p:cNvSpPr/>
          <p:nvPr/>
        </p:nvSpPr>
        <p:spPr>
          <a:xfrm>
            <a:off x="6382512" y="4686300"/>
            <a:ext cx="548640" cy="548640"/>
          </a:xfrm>
          <a:prstGeom prst="ellipse">
            <a:avLst/>
          </a:prstGeom>
          <a:solidFill>
            <a:srgbClr val="C4472F"/>
          </a:solidFill>
          <a:ln/>
        </p:spPr>
      </p:sp>
      <p:pic>
        <p:nvPicPr>
          <p:cNvPr id="60" name="Image 5" descr="preencoded.png">
            <a:extLst>
              <a:ext uri="{FF2B5EF4-FFF2-40B4-BE49-F238E27FC236}">
                <a16:creationId xmlns:a16="http://schemas.microsoft.com/office/drawing/2014/main" id="{178C606B-8262-8B81-C4B8-B1E78B6793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4186" y="4817974"/>
            <a:ext cx="285293" cy="285293"/>
          </a:xfrm>
          <a:prstGeom prst="rect">
            <a:avLst/>
          </a:prstGeom>
        </p:spPr>
      </p:pic>
      <p:sp>
        <p:nvSpPr>
          <p:cNvPr id="61" name="Text 25">
            <a:extLst>
              <a:ext uri="{FF2B5EF4-FFF2-40B4-BE49-F238E27FC236}">
                <a16:creationId xmlns:a16="http://schemas.microsoft.com/office/drawing/2014/main" id="{1F4EA23E-A6D9-B95B-6C6B-AC97EAC22818}"/>
              </a:ext>
            </a:extLst>
          </p:cNvPr>
          <p:cNvSpPr/>
          <p:nvPr/>
        </p:nvSpPr>
        <p:spPr>
          <a:xfrm>
            <a:off x="7059168" y="44622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Breadboard-only validation</a:t>
            </a:r>
            <a:endParaRPr lang="en-US" sz="1400" dirty="0"/>
          </a:p>
        </p:txBody>
      </p:sp>
      <p:sp>
        <p:nvSpPr>
          <p:cNvPr id="62" name="Text 26">
            <a:extLst>
              <a:ext uri="{FF2B5EF4-FFF2-40B4-BE49-F238E27FC236}">
                <a16:creationId xmlns:a16="http://schemas.microsoft.com/office/drawing/2014/main" id="{77BD926C-DE2D-3649-ADD4-D244DED306D4}"/>
              </a:ext>
            </a:extLst>
          </p:cNvPr>
          <p:cNvSpPr/>
          <p:nvPr/>
        </p:nvSpPr>
        <p:spPr>
          <a:xfrm>
            <a:off x="7059168" y="480060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evaluated for long-term Reliability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ready for Permanent Installation</a:t>
            </a:r>
            <a:endParaRPr lang="en-US" sz="1400" dirty="0"/>
          </a:p>
        </p:txBody>
      </p:sp>
      <p:sp>
        <p:nvSpPr>
          <p:cNvPr id="64" name="Text 28">
            <a:extLst>
              <a:ext uri="{FF2B5EF4-FFF2-40B4-BE49-F238E27FC236}">
                <a16:creationId xmlns:a16="http://schemas.microsoft.com/office/drawing/2014/main" id="{64A66AEF-A998-7B11-FB1F-52546518389B}"/>
              </a:ext>
            </a:extLst>
          </p:cNvPr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3" name="Text 42">
            <a:extLst>
              <a:ext uri="{FF2B5EF4-FFF2-40B4-BE49-F238E27FC236}">
                <a16:creationId xmlns:a16="http://schemas.microsoft.com/office/drawing/2014/main" id="{47E9AE70-29B9-BF94-409A-6AC4E49D6C6D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Home Automation System  |  Kathmandu University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 &amp; Upgrades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138988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190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19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64592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Feedback Module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1" y="2025396"/>
            <a:ext cx="3992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2000"/>
              </a:lnSpc>
            </a:pPr>
            <a:r>
              <a:rPr lang="en-US" sz="1400" dirty="0"/>
              <a:t>Uses an INMP441 microphone and MAX98357A amplifier to give voice announcements (e.g., "Fan turned on").</a:t>
            </a:r>
          </a:p>
        </p:txBody>
      </p:sp>
      <p:pic>
        <p:nvPicPr>
          <p:cNvPr id="9" name="Image 0" descr="/home/claude/pptx_work/report_images/voice_modul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96063" y="1623038"/>
            <a:ext cx="1323473" cy="129844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172200" y="1554480"/>
            <a:ext cx="5440680" cy="1367006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36792" y="17190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6336792" y="1719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858000" y="16459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&amp; Remote Access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858000" y="1938528"/>
            <a:ext cx="4572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2000"/>
              </a:lnSpc>
            </a:pPr>
            <a:r>
              <a:rPr lang="en-US" sz="1400" dirty="0"/>
              <a:t>Control the system from anywhere using the Internet</a:t>
            </a:r>
            <a:r>
              <a:rPr lang="en-US" sz="1400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3685031"/>
            <a:ext cx="5440680" cy="1382987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13232" y="376732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17" name="Text 14"/>
          <p:cNvSpPr/>
          <p:nvPr/>
        </p:nvSpPr>
        <p:spPr>
          <a:xfrm>
            <a:off x="704174" y="3767328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225382" y="38404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02060"/>
                </a:solidFill>
                <a:latin typeface="Lucida Bright" panose="02040602050505020304" pitchFamily="18" charset="0"/>
              </a:rPr>
              <a:t>Smart</a:t>
            </a: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Scheduling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82980" y="4187952"/>
            <a:ext cx="4572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2000"/>
              </a:lnSpc>
            </a:pPr>
            <a:r>
              <a:rPr lang="en-US" sz="1400" dirty="0"/>
              <a:t>Set automatic ON/OFF schedules for appliances</a:t>
            </a:r>
          </a:p>
          <a:p>
            <a:pPr>
              <a:lnSpc>
                <a:spcPct val="112000"/>
              </a:lnSpc>
            </a:pPr>
            <a:r>
              <a:rPr lang="en-US" sz="1400" dirty="0"/>
              <a:t>Schedule appliances to operate automatically at specific times.</a:t>
            </a:r>
          </a:p>
        </p:txBody>
      </p:sp>
      <p:sp>
        <p:nvSpPr>
          <p:cNvPr id="20" name="Shape 17"/>
          <p:cNvSpPr/>
          <p:nvPr/>
        </p:nvSpPr>
        <p:spPr>
          <a:xfrm>
            <a:off x="6202680" y="3735064"/>
            <a:ext cx="5440680" cy="1332953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36792" y="382678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3B7A93"/>
          </a:solidFill>
          <a:ln/>
        </p:spPr>
      </p:sp>
      <p:sp>
        <p:nvSpPr>
          <p:cNvPr id="22" name="Text 19"/>
          <p:cNvSpPr/>
          <p:nvPr/>
        </p:nvSpPr>
        <p:spPr>
          <a:xfrm>
            <a:off x="6336792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854952" y="38404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02060"/>
                </a:solidFill>
              </a:rPr>
              <a:t>Dedicated Mobile App</a:t>
            </a:r>
          </a:p>
        </p:txBody>
      </p:sp>
      <p:sp>
        <p:nvSpPr>
          <p:cNvPr id="24" name="Text 21"/>
          <p:cNvSpPr/>
          <p:nvPr/>
        </p:nvSpPr>
        <p:spPr>
          <a:xfrm>
            <a:off x="6854952" y="4226771"/>
            <a:ext cx="4572000" cy="7198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2000"/>
              </a:lnSpc>
            </a:pPr>
            <a:r>
              <a:rPr lang="en-US" sz="1400" dirty="0"/>
              <a:t>Develop an Android/iOS(Smart Phones) app for easier control and monitoring.</a:t>
            </a:r>
          </a:p>
        </p:txBody>
      </p:sp>
      <p:sp>
        <p:nvSpPr>
          <p:cNvPr id="27" name="Text 24"/>
          <p:cNvSpPr/>
          <p:nvPr/>
        </p:nvSpPr>
        <p:spPr>
          <a:xfrm>
            <a:off x="713232" y="4645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336792" y="4645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Home Automation System  |  Kathmandu University</a:t>
            </a:r>
            <a:endParaRPr lang="en-US" sz="1000" dirty="0"/>
          </a:p>
        </p:txBody>
      </p:sp>
      <p:sp>
        <p:nvSpPr>
          <p:cNvPr id="26" name="Text 28">
            <a:extLst>
              <a:ext uri="{FF2B5EF4-FFF2-40B4-BE49-F238E27FC236}">
                <a16:creationId xmlns:a16="http://schemas.microsoft.com/office/drawing/2014/main" id="{8658F403-58E8-6327-81DB-E8772B9B61AF}"/>
              </a:ext>
            </a:extLst>
          </p:cNvPr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40" name="Text 20">
            <a:extLst>
              <a:ext uri="{FF2B5EF4-FFF2-40B4-BE49-F238E27FC236}">
                <a16:creationId xmlns:a16="http://schemas.microsoft.com/office/drawing/2014/main" id="{2EC44811-78E8-4B5D-BA38-A01D2B9E0098}"/>
              </a:ext>
            </a:extLst>
          </p:cNvPr>
          <p:cNvSpPr/>
          <p:nvPr/>
        </p:nvSpPr>
        <p:spPr>
          <a:xfrm>
            <a:off x="6390132" y="3869436"/>
            <a:ext cx="2819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chemeClr val="bg1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>
            <a:alpha val="88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828800"/>
            <a:ext cx="5029200" cy="5029200"/>
          </a:xfrm>
          <a:prstGeom prst="ellipse">
            <a:avLst/>
          </a:prstGeom>
          <a:solidFill>
            <a:srgbClr val="1A3157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114800" cy="4114800"/>
          </a:xfrm>
          <a:prstGeom prst="ellipse">
            <a:avLst/>
          </a:prstGeom>
          <a:solidFill>
            <a:srgbClr val="1A3157"/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1874520"/>
            <a:ext cx="1005840" cy="10058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329" y="2115922"/>
            <a:ext cx="523037" cy="5230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15468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0" y="347472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Walkthrough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097280" y="4251960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Toggling appliances from the dashboard, live sensor readings, and automatic fan control — demonstrated on the physical prototype</a:t>
            </a:r>
            <a:endParaRPr lang="en-US" sz="1350" dirty="0"/>
          </a:p>
        </p:txBody>
      </p:sp>
      <p:sp>
        <p:nvSpPr>
          <p:cNvPr id="10" name="Text 42">
            <a:extLst>
              <a:ext uri="{FF2B5EF4-FFF2-40B4-BE49-F238E27FC236}">
                <a16:creationId xmlns:a16="http://schemas.microsoft.com/office/drawing/2014/main" id="{1691F378-6B48-417C-7F86-DDF6F5DF4D66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Home Automation System  |  Kathmandu University</a:t>
            </a:r>
            <a:endParaRPr lang="en-US" sz="1000" dirty="0"/>
          </a:p>
        </p:txBody>
      </p:sp>
      <p:sp>
        <p:nvSpPr>
          <p:cNvPr id="12" name="Text 28">
            <a:extLst>
              <a:ext uri="{FF2B5EF4-FFF2-40B4-BE49-F238E27FC236}">
                <a16:creationId xmlns:a16="http://schemas.microsoft.com/office/drawing/2014/main" id="{BE1490FA-87D4-732A-3D6D-980B6D2868AB}"/>
              </a:ext>
            </a:extLst>
          </p:cNvPr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21345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EAAD2ED-4880-5CDF-2D4F-FAE66CD22DDD}"/>
              </a:ext>
            </a:extLst>
          </p:cNvPr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1A3157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E0DEA49-745E-AB7D-7EB2-19E6CC610814}"/>
              </a:ext>
            </a:extLst>
          </p:cNvPr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A9676C9-43DA-19D1-A33A-B8DD200BC3AE}"/>
              </a:ext>
            </a:extLst>
          </p:cNvPr>
          <p:cNvSpPr/>
          <p:nvPr/>
        </p:nvSpPr>
        <p:spPr>
          <a:xfrm>
            <a:off x="54864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Self-Hosted, Affordable Path to a Smart Home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B1841CC-949B-518D-D1A5-5A1EC6A6D79B}"/>
              </a:ext>
            </a:extLst>
          </p:cNvPr>
          <p:cNvSpPr/>
          <p:nvPr/>
        </p:nvSpPr>
        <p:spPr>
          <a:xfrm>
            <a:off x="594360" y="182880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set out to design and build a self-hosted, affordable home automation system around the ESP32, and the working breadboard prototype demonstrates that goal has been met. Four appliances can be controlled remotely through a custom web dashboard, a DHT22 sensor automatically manages a fan based on real environmental readings, and none of it depends on a third-party cloud service or mobile app.</a:t>
            </a:r>
            <a:endParaRPr lang="en-US" sz="14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B7E1F83-11B6-12D6-DDA1-1531E6F85ACC}"/>
              </a:ext>
            </a:extLst>
          </p:cNvPr>
          <p:cNvSpPr/>
          <p:nvPr/>
        </p:nvSpPr>
        <p:spPr>
          <a:xfrm>
            <a:off x="594360" y="3657600"/>
            <a:ext cx="411480" cy="41148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F765D225-8AE4-56CB-285E-1C860C63F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15" y="3756355"/>
            <a:ext cx="213970" cy="213970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98FAEF77-AD57-EF84-9457-BCEAF42D402F}"/>
              </a:ext>
            </a:extLst>
          </p:cNvPr>
          <p:cNvSpPr/>
          <p:nvPr/>
        </p:nvSpPr>
        <p:spPr>
          <a:xfrm>
            <a:off x="1143000" y="363016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objectives from Chapter 1 met and validated through testing</a:t>
            </a:r>
            <a:endParaRPr lang="en-US" sz="13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CFB65C4F-4302-DB41-9A21-55AF26D5A630}"/>
              </a:ext>
            </a:extLst>
          </p:cNvPr>
          <p:cNvSpPr/>
          <p:nvPr/>
        </p:nvSpPr>
        <p:spPr>
          <a:xfrm>
            <a:off x="594360" y="4251960"/>
            <a:ext cx="411480" cy="41148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E8BCABB3-CEC7-6527-FB7D-2BEB2F948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15" y="4350715"/>
            <a:ext cx="213970" cy="213970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4095A392-1F17-A7F2-802B-9ABD297A8B19}"/>
              </a:ext>
            </a:extLst>
          </p:cNvPr>
          <p:cNvSpPr/>
          <p:nvPr/>
        </p:nvSpPr>
        <p:spPr>
          <a:xfrm>
            <a:off x="1143000" y="422452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self-hosted — no cloud dependency, no vendor lock-in</a:t>
            </a:r>
            <a:endParaRPr lang="en-US" sz="130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05D2B893-5B8F-2D77-F4E6-70BF27F405DB}"/>
              </a:ext>
            </a:extLst>
          </p:cNvPr>
          <p:cNvSpPr/>
          <p:nvPr/>
        </p:nvSpPr>
        <p:spPr>
          <a:xfrm>
            <a:off x="594360" y="4846320"/>
            <a:ext cx="411480" cy="41148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90B85295-87B8-E0DE-0D83-8673A0A2D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15" y="4945075"/>
            <a:ext cx="213970" cy="213970"/>
          </a:xfrm>
          <a:prstGeom prst="rect">
            <a:avLst/>
          </a:prstGeom>
        </p:spPr>
      </p:pic>
      <p:sp>
        <p:nvSpPr>
          <p:cNvPr id="14" name="Text 9">
            <a:extLst>
              <a:ext uri="{FF2B5EF4-FFF2-40B4-BE49-F238E27FC236}">
                <a16:creationId xmlns:a16="http://schemas.microsoft.com/office/drawing/2014/main" id="{A2AE8396-E041-B1E5-3B6F-57DE1CCB2A4D}"/>
              </a:ext>
            </a:extLst>
          </p:cNvPr>
          <p:cNvSpPr/>
          <p:nvPr/>
        </p:nvSpPr>
        <p:spPr>
          <a:xfrm>
            <a:off x="1143000" y="481888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Voice-feedback module already underway as the next enhancement</a:t>
            </a:r>
            <a:endParaRPr lang="en-US" sz="130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8DE5DAF2-A00C-5A3C-A2F7-F1DBFCB4E330}"/>
              </a:ext>
            </a:extLst>
          </p:cNvPr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8" name="Text 42">
            <a:extLst>
              <a:ext uri="{FF2B5EF4-FFF2-40B4-BE49-F238E27FC236}">
                <a16:creationId xmlns:a16="http://schemas.microsoft.com/office/drawing/2014/main" id="{5DD33944-36A4-7210-0CB2-B9B7ABD87B90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Home Automation System  |  Kathmandu University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482336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3840480"/>
            <a:ext cx="3840480" cy="3840480"/>
          </a:xfrm>
          <a:prstGeom prst="ellipse">
            <a:avLst/>
          </a:prstGeom>
          <a:solidFill>
            <a:srgbClr val="002060">
              <a:alpha val="8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028303" y="947351"/>
            <a:ext cx="4514335" cy="2755969"/>
          </a:xfrm>
          <a:prstGeom prst="rect">
            <a:avLst/>
          </a:prstGeom>
          <a:solidFill>
            <a:srgbClr val="002060">
              <a:alpha val="51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0" y="32461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05" y="6242685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Home Automation System — ENGG 102 Project Defense</a:t>
            </a:r>
            <a:endParaRPr lang="en-US" sz="1200" b="1" dirty="0"/>
          </a:p>
        </p:txBody>
      </p:sp>
      <p:pic>
        <p:nvPicPr>
          <p:cNvPr id="3" name="Image 0" descr="/mnt/user-data/outputs/media/logo-2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648" y="1188720"/>
            <a:ext cx="914400" cy="9144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6C940408-924C-8E00-B3F5-BAD4071C40B0}"/>
              </a:ext>
            </a:extLst>
          </p:cNvPr>
          <p:cNvSpPr/>
          <p:nvPr/>
        </p:nvSpPr>
        <p:spPr>
          <a:xfrm>
            <a:off x="-1383273" y="-1719363"/>
            <a:ext cx="4178050" cy="4209158"/>
          </a:xfrm>
          <a:prstGeom prst="ellipse">
            <a:avLst/>
          </a:prstGeom>
          <a:solidFill>
            <a:srgbClr val="002060">
              <a:alpha val="82000"/>
            </a:srgbClr>
          </a:solidFill>
          <a:ln/>
        </p:spPr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5A878F26-A1C1-7103-9FB5-EDE1F2322A77}"/>
              </a:ext>
            </a:extLst>
          </p:cNvPr>
          <p:cNvSpPr/>
          <p:nvPr/>
        </p:nvSpPr>
        <p:spPr>
          <a:xfrm>
            <a:off x="1533524" y="3935164"/>
            <a:ext cx="8159115" cy="2170361"/>
          </a:xfrm>
          <a:prstGeom prst="roundRect">
            <a:avLst>
              <a:gd name="adj" fmla="val 3721"/>
            </a:avLst>
          </a:prstGeom>
          <a:solidFill>
            <a:srgbClr val="1B2450">
              <a:alpha val="52000"/>
            </a:srgbClr>
          </a:solidFill>
          <a:ln w="12700">
            <a:solidFill>
              <a:srgbClr val="35407A"/>
            </a:solidFill>
            <a:prstDash val="solid"/>
          </a:ln>
        </p:spPr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429BD12E-A79C-0BC1-D79E-1FFA337EDF3C}"/>
              </a:ext>
            </a:extLst>
          </p:cNvPr>
          <p:cNvSpPr/>
          <p:nvPr/>
        </p:nvSpPr>
        <p:spPr>
          <a:xfrm>
            <a:off x="1778808" y="4183668"/>
            <a:ext cx="7719679" cy="1673352"/>
          </a:xfrm>
          <a:prstGeom prst="rect">
            <a:avLst/>
          </a:prstGeom>
          <a:solidFill>
            <a:srgbClr val="1B24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b="1" kern="0" spc="150" dirty="0">
              <a:solidFill>
                <a:srgbClr val="5CC8C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600" b="1" kern="0" spc="150" dirty="0">
              <a:solidFill>
                <a:srgbClr val="5CC8C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b="1" kern="0" spc="150" dirty="0">
                <a:solidFill>
                  <a:srgbClr val="5CC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PROJECT TEAM</a:t>
            </a:r>
          </a:p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Nishant Sah  •  Sandesh Shrestha  •  Dipra Shrestha  •  Samin Tharu  •  Grishma Thapa</a:t>
            </a:r>
          </a:p>
          <a:p>
            <a:endParaRPr lang="en-US" sz="16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6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Kathmandu University, Department of Computer Science and Engineering  |  </a:t>
            </a:r>
            <a:endParaRPr lang="en-US" sz="1600" dirty="0"/>
          </a:p>
          <a:p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10" name="Text 42">
            <a:extLst>
              <a:ext uri="{FF2B5EF4-FFF2-40B4-BE49-F238E27FC236}">
                <a16:creationId xmlns:a16="http://schemas.microsoft.com/office/drawing/2014/main" id="{85F4617C-236A-BDB8-577C-B7498AA6BC4B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Home Automation System  |  Kathmandu University</a:t>
            </a:r>
            <a:endParaRPr lang="en-US" sz="1000" dirty="0"/>
          </a:p>
        </p:txBody>
      </p:sp>
      <p:sp>
        <p:nvSpPr>
          <p:cNvPr id="13" name="Text 28">
            <a:extLst>
              <a:ext uri="{FF2B5EF4-FFF2-40B4-BE49-F238E27FC236}">
                <a16:creationId xmlns:a16="http://schemas.microsoft.com/office/drawing/2014/main" id="{AF16A57C-C275-64AC-BB99-6D29F2E96A7E}"/>
              </a:ext>
            </a:extLst>
          </p:cNvPr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81039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alpha val="9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828800"/>
            <a:ext cx="5029200" cy="5029200"/>
          </a:xfrm>
          <a:prstGeom prst="ellipse">
            <a:avLst/>
          </a:prstGeom>
          <a:solidFill>
            <a:srgbClr val="FFC000">
              <a:alpha val="61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114800" cy="4114800"/>
          </a:xfrm>
          <a:prstGeom prst="ellipse">
            <a:avLst/>
          </a:prstGeom>
          <a:solidFill>
            <a:srgbClr val="FFC000">
              <a:alpha val="6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1965960"/>
            <a:ext cx="1005840" cy="1005840"/>
          </a:xfrm>
          <a:prstGeom prst="ellipse">
            <a:avLst/>
          </a:prstGeom>
          <a:solidFill>
            <a:srgbClr val="12233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329" y="2210105"/>
            <a:ext cx="523037" cy="5230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-1" y="3342742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/>
              <a:t>Questions &amp; Discussion</a:t>
            </a:r>
          </a:p>
        </p:txBody>
      </p:sp>
      <p:sp>
        <p:nvSpPr>
          <p:cNvPr id="8" name="Text 42">
            <a:extLst>
              <a:ext uri="{FF2B5EF4-FFF2-40B4-BE49-F238E27FC236}">
                <a16:creationId xmlns:a16="http://schemas.microsoft.com/office/drawing/2014/main" id="{27BBE3A6-EA9B-E8BE-44C8-539DDF2FA41F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Home Automation System  |  Kathmandu University</a:t>
            </a:r>
            <a:endParaRPr lang="en-US" sz="1000" dirty="0"/>
          </a:p>
        </p:txBody>
      </p:sp>
      <p:sp>
        <p:nvSpPr>
          <p:cNvPr id="10" name="Text 28">
            <a:extLst>
              <a:ext uri="{FF2B5EF4-FFF2-40B4-BE49-F238E27FC236}">
                <a16:creationId xmlns:a16="http://schemas.microsoft.com/office/drawing/2014/main" id="{63419A16-41CF-B495-4C77-5F5692C33435}"/>
              </a:ext>
            </a:extLst>
          </p:cNvPr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0547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1173</TotalTime>
  <Words>1824</Words>
  <Application>Microsoft Office PowerPoint</Application>
  <PresentationFormat>Widescreen</PresentationFormat>
  <Paragraphs>368</Paragraphs>
  <Slides>27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Cambria</vt:lpstr>
      <vt:lpstr>Lucida Bright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sameen8008@gmail.com</cp:lastModifiedBy>
  <cp:revision>118</cp:revision>
  <dcterms:created xsi:type="dcterms:W3CDTF">2026-08-01T11:49:34Z</dcterms:created>
  <dcterms:modified xsi:type="dcterms:W3CDTF">2026-08-04T03:53:38Z</dcterms:modified>
</cp:coreProperties>
</file>