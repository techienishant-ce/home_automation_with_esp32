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5"/>
  </p:notesMasterIdLst>
  <p:sldIdLst>
    <p:sldId id="273" r:id="rId2"/>
    <p:sldId id="283" r:id="rId3"/>
    <p:sldId id="257" r:id="rId13"/>
    <p:sldId id="258" r:id="rId14"/>
    <p:sldId id="259" r:id="rId15"/>
    <p:sldId id="260" r:id="rId16"/>
    <p:sldId id="296" r:id="rId25"/>
    <p:sldId id="261" r:id="rId17"/>
    <p:sldId id="262" r:id="rId18"/>
    <p:sldId id="275" r:id="rId19"/>
    <p:sldId id="276" r:id="rId20"/>
    <p:sldId id="274" r:id="rId21"/>
    <p:sldId id="263" r:id="rId22"/>
    <p:sldId id="264" r:id="rId23"/>
    <p:sldId id="265" r:id="rId24"/>
    <p:sldId id="278" r:id="rId26"/>
    <p:sldId id="277" r:id="rId27"/>
    <p:sldId id="266" r:id="rId28"/>
    <p:sldId id="267" r:id="rId29"/>
    <p:sldId id="268" r:id="rId30"/>
    <p:sldId id="269" r:id="rId31"/>
    <p:sldId id="290" r:id="rId10"/>
    <p:sldId id="292" r:id="rId12"/>
    <p:sldId id="291" r:id="rId11"/>
    <p:sldId id="282" r:id="rId33"/>
    <p:sldId id="281" r:id="rId3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B305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204" autoAdjust="0"/>
    <p:restoredTop sz="94610"/>
  </p:normalViewPr>
  <p:slideViewPr>
    <p:cSldViewPr snapToGrid="0" snapToObjects="1">
      <p:cViewPr varScale="1">
        <p:scale>
          <a:sx n="95" d="100"/>
          <a:sy n="95" d="100"/>
        </p:scale>
        <p:origin x="197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7" Type="http://schemas.openxmlformats.org/officeDocument/2006/relationships/viewProps" Target="viewProps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B74D38B-4F21-4684-857C-69EA9C69B655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CCE76BB-499A-4090-B2B0-782A3B2ED5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34034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5015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38833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631325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734902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981513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082977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1676999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977145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7.jpe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3.jpe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8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jpe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305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072372" y="-3131820"/>
            <a:ext cx="6400800" cy="6400800"/>
          </a:xfrm>
          <a:prstGeom prst="ellipse">
            <a:avLst/>
          </a:prstGeom>
          <a:solidFill>
            <a:srgbClr val="002060">
              <a:alpha val="8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558290" y="3813048"/>
            <a:ext cx="5486400" cy="5486400"/>
          </a:xfrm>
          <a:prstGeom prst="ellipse">
            <a:avLst/>
          </a:prstGeom>
          <a:solidFill>
            <a:srgbClr val="002060">
              <a:alpha val="77000"/>
            </a:srgbClr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1531239" y="576072"/>
            <a:ext cx="6035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kern="0" spc="300" dirty="0">
                <a:solidFill>
                  <a:srgbClr val="3FE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KATHMANDU UNIVERSITY</a:t>
            </a:r>
            <a:endParaRPr lang="en-US" sz="2800" b="1" dirty="0"/>
          </a:p>
        </p:txBody>
      </p:sp>
      <p:sp>
        <p:nvSpPr>
          <p:cNvPr id="5" name="Text 3"/>
          <p:cNvSpPr/>
          <p:nvPr/>
        </p:nvSpPr>
        <p:spPr>
          <a:xfrm>
            <a:off x="1535049" y="961263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Computer Science and Engineering  •  Dhulikhel, Kavre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1463040"/>
            <a:ext cx="61264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IoT Based</a:t>
            </a:r>
            <a:endParaRPr lang="en-US" sz="38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Home Automation System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640080" y="2863514"/>
            <a:ext cx="5806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5000"/>
              </a:lnSpc>
            </a:pPr>
            <a:endParaRPr lang="en-US" sz="1600" i="1" dirty="0">
              <a:solidFill>
                <a:srgbClr val="CADCFC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>
              <a:lnSpc>
                <a:spcPct val="125000"/>
              </a:lnSpc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with an ESP32 microcontroller and a self-hosted web dashboard</a:t>
            </a:r>
            <a:endParaRPr lang="en-US" sz="1600" dirty="0"/>
          </a:p>
          <a:p>
            <a:pPr marL="0" indent="0">
              <a:lnSpc>
                <a:spcPct val="125000"/>
              </a:lnSpc>
              <a:buNone/>
            </a:pP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4160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kern="0" spc="200" dirty="0">
                <a:solidFill>
                  <a:srgbClr val="3FE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TEAM</a:t>
            </a: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640080" y="4462272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Nishant Sah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041125-25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383280" y="4462272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Dipra Shrestha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041136-25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0080" y="502920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Sandesh Shrestha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041141-25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383280" y="502920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Samin Tharu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041155-25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40080" y="5596128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Grishma Thapa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038007-24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383280" y="5623560"/>
            <a:ext cx="31912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FE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SUBMITTED TO   </a:t>
            </a: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Mr. Santosh Shaha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40080" y="6263640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Code: ENGG 102  |  Year I / Sem II   •   July 27, 2026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818120" y="1417320"/>
            <a:ext cx="1645920" cy="2468880"/>
          </a:xfrm>
          <a:prstGeom prst="line">
            <a:avLst/>
          </a:prstGeom>
          <a:noFill/>
          <a:ln w="15875">
            <a:solidFill>
              <a:srgbClr val="3FE0D0">
                <a:alpha val="75000"/>
              </a:srgbClr>
            </a:solidFill>
            <a:prstDash val="dash"/>
          </a:ln>
        </p:spPr>
      </p:sp>
      <p:sp>
        <p:nvSpPr>
          <p:cNvPr id="17" name="Shape 15"/>
          <p:cNvSpPr/>
          <p:nvPr/>
        </p:nvSpPr>
        <p:spPr>
          <a:xfrm flipV="1">
            <a:off x="9464040" y="1600200"/>
            <a:ext cx="1554480" cy="2286000"/>
          </a:xfrm>
          <a:prstGeom prst="line">
            <a:avLst/>
          </a:prstGeom>
          <a:noFill/>
          <a:ln w="15875">
            <a:solidFill>
              <a:srgbClr val="3FE0D0">
                <a:alpha val="75000"/>
              </a:srgbClr>
            </a:solidFill>
            <a:prstDash val="dash"/>
          </a:ln>
        </p:spPr>
      </p:sp>
      <p:sp>
        <p:nvSpPr>
          <p:cNvPr id="18" name="Shape 16"/>
          <p:cNvSpPr/>
          <p:nvPr/>
        </p:nvSpPr>
        <p:spPr>
          <a:xfrm>
            <a:off x="7178040" y="3657600"/>
            <a:ext cx="2286000" cy="228600"/>
          </a:xfrm>
          <a:prstGeom prst="line">
            <a:avLst/>
          </a:prstGeom>
          <a:noFill/>
          <a:ln w="15875">
            <a:solidFill>
              <a:srgbClr val="3FE0D0">
                <a:alpha val="75000"/>
              </a:srgbClr>
            </a:solidFill>
            <a:prstDash val="dash"/>
          </a:ln>
        </p:spPr>
      </p:sp>
      <p:sp>
        <p:nvSpPr>
          <p:cNvPr id="19" name="Shape 17"/>
          <p:cNvSpPr/>
          <p:nvPr/>
        </p:nvSpPr>
        <p:spPr>
          <a:xfrm flipV="1">
            <a:off x="9464040" y="3794760"/>
            <a:ext cx="2194560" cy="91440"/>
          </a:xfrm>
          <a:prstGeom prst="line">
            <a:avLst/>
          </a:prstGeom>
          <a:noFill/>
          <a:ln w="15875">
            <a:solidFill>
              <a:srgbClr val="3FE0D0">
                <a:alpha val="75000"/>
              </a:srgbClr>
            </a:solidFill>
            <a:prstDash val="dash"/>
          </a:ln>
        </p:spPr>
      </p:sp>
      <p:sp>
        <p:nvSpPr>
          <p:cNvPr id="20" name="Shape 18"/>
          <p:cNvSpPr/>
          <p:nvPr/>
        </p:nvSpPr>
        <p:spPr>
          <a:xfrm flipV="1">
            <a:off x="7818120" y="3886200"/>
            <a:ext cx="1645920" cy="1920240"/>
          </a:xfrm>
          <a:prstGeom prst="line">
            <a:avLst/>
          </a:prstGeom>
          <a:noFill/>
          <a:ln w="15875">
            <a:solidFill>
              <a:srgbClr val="3FE0D0">
                <a:alpha val="75000"/>
              </a:srgbClr>
            </a:solidFill>
            <a:prstDash val="dash"/>
          </a:ln>
        </p:spPr>
      </p:sp>
      <p:sp>
        <p:nvSpPr>
          <p:cNvPr id="21" name="Shape 19"/>
          <p:cNvSpPr/>
          <p:nvPr/>
        </p:nvSpPr>
        <p:spPr>
          <a:xfrm>
            <a:off x="9464040" y="3886200"/>
            <a:ext cx="1554480" cy="1737360"/>
          </a:xfrm>
          <a:prstGeom prst="line">
            <a:avLst/>
          </a:prstGeom>
          <a:noFill/>
          <a:ln w="15875">
            <a:solidFill>
              <a:srgbClr val="3FE0D0">
                <a:alpha val="75000"/>
              </a:srgbClr>
            </a:solidFill>
            <a:prstDash val="dash"/>
          </a:ln>
        </p:spPr>
      </p:sp>
      <p:sp>
        <p:nvSpPr>
          <p:cNvPr id="22" name="Shape 20"/>
          <p:cNvSpPr/>
          <p:nvPr/>
        </p:nvSpPr>
        <p:spPr>
          <a:xfrm>
            <a:off x="8046720" y="2377440"/>
            <a:ext cx="2834640" cy="1234440"/>
          </a:xfrm>
          <a:prstGeom prst="triangle">
            <a:avLst/>
          </a:prstGeom>
          <a:solidFill>
            <a:srgbClr val="3FE0D0"/>
          </a:solidFill>
          <a:ln/>
        </p:spPr>
      </p:sp>
      <p:sp>
        <p:nvSpPr>
          <p:cNvPr id="23" name="Shape 21"/>
          <p:cNvSpPr/>
          <p:nvPr/>
        </p:nvSpPr>
        <p:spPr>
          <a:xfrm>
            <a:off x="8275320" y="3566160"/>
            <a:ext cx="2377440" cy="1600200"/>
          </a:xfrm>
          <a:prstGeom prst="rect">
            <a:avLst/>
          </a:prstGeom>
          <a:solidFill>
            <a:srgbClr val="FFFFFF"/>
          </a:solidFill>
          <a:ln w="19050">
            <a:solidFill>
              <a:srgbClr val="3FE0D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208008" y="4389120"/>
            <a:ext cx="512064" cy="7772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5" name="Shape 23"/>
          <p:cNvSpPr/>
          <p:nvPr/>
        </p:nvSpPr>
        <p:spPr>
          <a:xfrm>
            <a:off x="8503920" y="3840480"/>
            <a:ext cx="457200" cy="457200"/>
          </a:xfrm>
          <a:prstGeom prst="rect">
            <a:avLst/>
          </a:prstGeom>
          <a:solidFill>
            <a:srgbClr val="3FE0D0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966960" y="3840480"/>
            <a:ext cx="457200" cy="457200"/>
          </a:xfrm>
          <a:prstGeom prst="rect">
            <a:avLst/>
          </a:prstGeom>
          <a:solidFill>
            <a:srgbClr val="3FE0D0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0149840" y="2468880"/>
            <a:ext cx="201168" cy="5029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8" name="Shape 26"/>
          <p:cNvSpPr/>
          <p:nvPr/>
        </p:nvSpPr>
        <p:spPr>
          <a:xfrm>
            <a:off x="7507224" y="1106424"/>
            <a:ext cx="621792" cy="621792"/>
          </a:xfrm>
          <a:prstGeom prst="ellipse">
            <a:avLst/>
          </a:prstGeom>
          <a:solidFill>
            <a:srgbClr val="141B47"/>
          </a:solidFill>
          <a:ln w="19050">
            <a:solidFill>
              <a:srgbClr val="3FE0D0"/>
            </a:solidFill>
            <a:prstDash val="solid"/>
          </a:ln>
        </p:spPr>
      </p:sp>
      <p:pic>
        <p:nvPicPr>
          <p:cNvPr id="29" name="Image 0" descr="/home/claude/work/icon_wif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44384" y="1243584"/>
            <a:ext cx="347472" cy="347472"/>
          </a:xfrm>
          <a:prstGeom prst="rect">
            <a:avLst/>
          </a:prstGeom>
        </p:spPr>
      </p:pic>
      <p:sp>
        <p:nvSpPr>
          <p:cNvPr id="30" name="Text 27"/>
          <p:cNvSpPr/>
          <p:nvPr/>
        </p:nvSpPr>
        <p:spPr>
          <a:xfrm>
            <a:off x="6995160" y="75895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Wi-Fi Link</a:t>
            </a:r>
            <a:endParaRPr lang="en-US" sz="1200" b="1" dirty="0"/>
          </a:p>
        </p:txBody>
      </p:sp>
      <p:sp>
        <p:nvSpPr>
          <p:cNvPr id="31" name="Shape 28"/>
          <p:cNvSpPr/>
          <p:nvPr/>
        </p:nvSpPr>
        <p:spPr>
          <a:xfrm>
            <a:off x="10707624" y="1289304"/>
            <a:ext cx="621792" cy="621792"/>
          </a:xfrm>
          <a:prstGeom prst="ellipse">
            <a:avLst/>
          </a:prstGeom>
          <a:solidFill>
            <a:srgbClr val="141B47"/>
          </a:solidFill>
          <a:ln w="19050">
            <a:solidFill>
              <a:srgbClr val="3FE0D0"/>
            </a:solidFill>
            <a:prstDash val="solid"/>
          </a:ln>
        </p:spPr>
      </p:sp>
      <p:pic>
        <p:nvPicPr>
          <p:cNvPr id="32" name="Image 1" descr="/home/claude/work/icon_phon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44784" y="1426464"/>
            <a:ext cx="347472" cy="347472"/>
          </a:xfrm>
          <a:prstGeom prst="rect">
            <a:avLst/>
          </a:prstGeom>
        </p:spPr>
      </p:pic>
      <p:sp>
        <p:nvSpPr>
          <p:cNvPr id="33" name="Text 29"/>
          <p:cNvSpPr/>
          <p:nvPr/>
        </p:nvSpPr>
        <p:spPr>
          <a:xfrm>
            <a:off x="10195560" y="94183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Dashboard</a:t>
            </a:r>
            <a:endParaRPr lang="en-US" sz="1200" b="1" dirty="0"/>
          </a:p>
        </p:txBody>
      </p:sp>
      <p:sp>
        <p:nvSpPr>
          <p:cNvPr id="34" name="Shape 30"/>
          <p:cNvSpPr/>
          <p:nvPr/>
        </p:nvSpPr>
        <p:spPr>
          <a:xfrm>
            <a:off x="6867144" y="3346704"/>
            <a:ext cx="621792" cy="621792"/>
          </a:xfrm>
          <a:prstGeom prst="ellipse">
            <a:avLst/>
          </a:prstGeom>
          <a:solidFill>
            <a:srgbClr val="141B47"/>
          </a:solidFill>
          <a:ln w="19050">
            <a:solidFill>
              <a:srgbClr val="3FE0D0"/>
            </a:solidFill>
            <a:prstDash val="solid"/>
          </a:ln>
        </p:spPr>
      </p:sp>
      <p:pic>
        <p:nvPicPr>
          <p:cNvPr id="35" name="Image 2" descr="/home/claude/work/icon_bulb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04304" y="3483864"/>
            <a:ext cx="347472" cy="347472"/>
          </a:xfrm>
          <a:prstGeom prst="rect">
            <a:avLst/>
          </a:prstGeom>
        </p:spPr>
      </p:pic>
      <p:sp>
        <p:nvSpPr>
          <p:cNvPr id="36" name="Text 31"/>
          <p:cNvSpPr/>
          <p:nvPr/>
        </p:nvSpPr>
        <p:spPr>
          <a:xfrm>
            <a:off x="6355080" y="402336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Lighting</a:t>
            </a:r>
            <a:endParaRPr lang="en-US" sz="1200" b="1" dirty="0"/>
          </a:p>
        </p:txBody>
      </p:sp>
      <p:sp>
        <p:nvSpPr>
          <p:cNvPr id="37" name="Shape 32"/>
          <p:cNvSpPr/>
          <p:nvPr/>
        </p:nvSpPr>
        <p:spPr>
          <a:xfrm>
            <a:off x="11347704" y="3483864"/>
            <a:ext cx="621792" cy="621792"/>
          </a:xfrm>
          <a:prstGeom prst="ellipse">
            <a:avLst/>
          </a:prstGeom>
          <a:solidFill>
            <a:srgbClr val="141B47"/>
          </a:solidFill>
          <a:ln w="19050">
            <a:solidFill>
              <a:srgbClr val="3FE0D0"/>
            </a:solidFill>
            <a:prstDash val="solid"/>
          </a:ln>
        </p:spPr>
      </p:sp>
      <p:pic>
        <p:nvPicPr>
          <p:cNvPr id="38" name="Image 3" descr="/home/claude/work/icon_fa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484864" y="3621024"/>
            <a:ext cx="347472" cy="347472"/>
          </a:xfrm>
          <a:prstGeom prst="rect">
            <a:avLst/>
          </a:prstGeom>
        </p:spPr>
      </p:pic>
      <p:sp>
        <p:nvSpPr>
          <p:cNvPr id="39" name="Text 33"/>
          <p:cNvSpPr/>
          <p:nvPr/>
        </p:nvSpPr>
        <p:spPr>
          <a:xfrm>
            <a:off x="10520172" y="4181856"/>
            <a:ext cx="1691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Fan Control</a:t>
            </a:r>
            <a:endParaRPr lang="en-US" sz="1200" b="1" dirty="0"/>
          </a:p>
        </p:txBody>
      </p:sp>
      <p:sp>
        <p:nvSpPr>
          <p:cNvPr id="40" name="Shape 34"/>
          <p:cNvSpPr/>
          <p:nvPr/>
        </p:nvSpPr>
        <p:spPr>
          <a:xfrm>
            <a:off x="7507224" y="5495544"/>
            <a:ext cx="621792" cy="621792"/>
          </a:xfrm>
          <a:prstGeom prst="ellipse">
            <a:avLst/>
          </a:prstGeom>
          <a:solidFill>
            <a:srgbClr val="141B47"/>
          </a:solidFill>
          <a:ln w="19050">
            <a:solidFill>
              <a:srgbClr val="3FE0D0"/>
            </a:solidFill>
            <a:prstDash val="solid"/>
          </a:ln>
        </p:spPr>
      </p:sp>
      <p:pic>
        <p:nvPicPr>
          <p:cNvPr id="41" name="Image 4" descr="/home/claude/work/icon_temp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44384" y="5632704"/>
            <a:ext cx="347472" cy="347472"/>
          </a:xfrm>
          <a:prstGeom prst="rect">
            <a:avLst/>
          </a:prstGeom>
        </p:spPr>
      </p:pic>
      <p:sp>
        <p:nvSpPr>
          <p:cNvPr id="42" name="Text 35"/>
          <p:cNvSpPr/>
          <p:nvPr/>
        </p:nvSpPr>
        <p:spPr>
          <a:xfrm>
            <a:off x="6995160" y="617220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DHT22 Sensor</a:t>
            </a:r>
            <a:endParaRPr lang="en-US" sz="1200" b="1" dirty="0"/>
          </a:p>
        </p:txBody>
      </p:sp>
      <p:sp>
        <p:nvSpPr>
          <p:cNvPr id="43" name="Shape 36"/>
          <p:cNvSpPr/>
          <p:nvPr/>
        </p:nvSpPr>
        <p:spPr>
          <a:xfrm>
            <a:off x="10707624" y="5312664"/>
            <a:ext cx="621792" cy="621792"/>
          </a:xfrm>
          <a:prstGeom prst="ellipse">
            <a:avLst/>
          </a:prstGeom>
          <a:solidFill>
            <a:srgbClr val="141B47"/>
          </a:solidFill>
          <a:ln w="19050">
            <a:solidFill>
              <a:srgbClr val="3FE0D0"/>
            </a:solidFill>
            <a:prstDash val="solid"/>
          </a:ln>
        </p:spPr>
      </p:sp>
      <p:pic>
        <p:nvPicPr>
          <p:cNvPr id="44" name="Image 5" descr="/home/claude/work/icon_plug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844784" y="5449824"/>
            <a:ext cx="347472" cy="347472"/>
          </a:xfrm>
          <a:prstGeom prst="rect">
            <a:avLst/>
          </a:prstGeom>
        </p:spPr>
      </p:pic>
      <p:sp>
        <p:nvSpPr>
          <p:cNvPr id="45" name="Text 37"/>
          <p:cNvSpPr/>
          <p:nvPr/>
        </p:nvSpPr>
        <p:spPr>
          <a:xfrm>
            <a:off x="10195560" y="59893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Relay Switching</a:t>
            </a:r>
            <a:endParaRPr lang="en-US" sz="1200" b="1" dirty="0"/>
          </a:p>
        </p:txBody>
      </p:sp>
      <p:pic>
        <p:nvPicPr>
          <p:cNvPr id="47" name="Image 0" descr="/mnt/user-data/outputs/media/logo-200.png">
            <a:extLst>
              <a:ext uri="{FF2B5EF4-FFF2-40B4-BE49-F238E27FC236}">
                <a16:creationId xmlns:a16="http://schemas.microsoft.com/office/drawing/2014/main" id="{FF79BB60-BAC7-0618-A41B-31C2661D8B66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44068" y="502920"/>
            <a:ext cx="822960" cy="822960"/>
          </a:xfrm>
          <a:prstGeom prst="rect">
            <a:avLst/>
          </a:prstGeom>
        </p:spPr>
      </p:pic>
      <p:sp>
        <p:nvSpPr>
          <p:cNvPr id="51" name="Shape 8">
            <a:extLst>
              <a:ext uri="{FF2B5EF4-FFF2-40B4-BE49-F238E27FC236}">
                <a16:creationId xmlns:a16="http://schemas.microsoft.com/office/drawing/2014/main" id="{F4CA4E42-293A-104F-CE1C-9F6E284972E6}"/>
              </a:ext>
            </a:extLst>
          </p:cNvPr>
          <p:cNvSpPr/>
          <p:nvPr/>
        </p:nvSpPr>
        <p:spPr>
          <a:xfrm>
            <a:off x="640080" y="3402711"/>
            <a:ext cx="2139063" cy="320040"/>
          </a:xfrm>
          <a:prstGeom prst="roundRect">
            <a:avLst>
              <a:gd name="adj" fmla="val 50000"/>
            </a:avLst>
          </a:prstGeom>
          <a:solidFill>
            <a:srgbClr val="1F5F3F"/>
          </a:solidFill>
          <a:ln/>
        </p:spPr>
        <p:txBody>
          <a:bodyPr/>
          <a:lstStyle/>
          <a:p>
            <a:endParaRPr lang="en-US" dirty="0"/>
          </a:p>
        </p:txBody>
      </p:sp>
      <p:pic>
        <p:nvPicPr>
          <p:cNvPr id="53" name="Image 1" descr="preencoded.png">
            <a:extLst>
              <a:ext uri="{FF2B5EF4-FFF2-40B4-BE49-F238E27FC236}">
                <a16:creationId xmlns:a16="http://schemas.microsoft.com/office/drawing/2014/main" id="{C642272F-18D3-77E6-D4B7-A5F06D138A69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08660" y="3428135"/>
            <a:ext cx="237744" cy="237744"/>
          </a:xfrm>
          <a:prstGeom prst="rect">
            <a:avLst/>
          </a:prstGeom>
        </p:spPr>
      </p:pic>
      <p:sp>
        <p:nvSpPr>
          <p:cNvPr id="55" name="Text 9">
            <a:extLst>
              <a:ext uri="{FF2B5EF4-FFF2-40B4-BE49-F238E27FC236}">
                <a16:creationId xmlns:a16="http://schemas.microsoft.com/office/drawing/2014/main" id="{2B2AD873-1693-84A9-7C9B-041CD7844220}"/>
              </a:ext>
            </a:extLst>
          </p:cNvPr>
          <p:cNvSpPr/>
          <p:nvPr/>
        </p:nvSpPr>
        <p:spPr>
          <a:xfrm>
            <a:off x="1018923" y="3364127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9F2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Prototype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28575933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alpha val="72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2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We'll Cover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170432"/>
            <a:ext cx="548640" cy="45720"/>
          </a:xfrm>
          <a:prstGeom prst="rect">
            <a:avLst/>
          </a:prstGeom>
          <a:solidFill>
            <a:srgbClr val="F2A93B"/>
          </a:solidFill>
          <a:ln/>
        </p:spPr>
      </p:sp>
      <p:sp>
        <p:nvSpPr>
          <p:cNvPr id="5" name="Shape 3"/>
          <p:cNvSpPr/>
          <p:nvPr/>
        </p:nvSpPr>
        <p:spPr>
          <a:xfrm>
            <a:off x="594360" y="1554480"/>
            <a:ext cx="521208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95528" y="1952244"/>
            <a:ext cx="621792" cy="621792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4758" y="2101474"/>
            <a:ext cx="323332" cy="32333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554480" y="1719072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2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&amp; Objectives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1554480" y="2057400"/>
            <a:ext cx="4114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gap in traditional home switches and what we set out to build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6263640" y="1554480"/>
            <a:ext cx="521208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464808" y="1952244"/>
            <a:ext cx="621792" cy="621792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14038" y="2101474"/>
            <a:ext cx="323332" cy="32333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223760" y="1719072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2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Design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7223760" y="2057400"/>
            <a:ext cx="4114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Architecture, data model, and how a command flows through the system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594360" y="3291840"/>
            <a:ext cx="521208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795528" y="3689604"/>
            <a:ext cx="621792" cy="621792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4758" y="3838834"/>
            <a:ext cx="323332" cy="32333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554480" y="3456432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2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&amp; Software</a:t>
            </a:r>
            <a:endParaRPr lang="en-US" sz="1500" dirty="0"/>
          </a:p>
        </p:txBody>
      </p:sp>
      <p:sp>
        <p:nvSpPr>
          <p:cNvPr id="19" name="Text 14"/>
          <p:cNvSpPr/>
          <p:nvPr/>
        </p:nvSpPr>
        <p:spPr>
          <a:xfrm>
            <a:off x="1554480" y="3794760"/>
            <a:ext cx="4114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Components used and the firmware/dashboard stack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6263640" y="3291840"/>
            <a:ext cx="521208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6464808" y="3689604"/>
            <a:ext cx="621792" cy="621792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14038" y="3838834"/>
            <a:ext cx="323332" cy="323332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223760" y="3456432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2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 &amp; Testing</a:t>
            </a:r>
            <a:endParaRPr lang="en-US" sz="1500" dirty="0"/>
          </a:p>
        </p:txBody>
      </p:sp>
      <p:sp>
        <p:nvSpPr>
          <p:cNvPr id="24" name="Text 18"/>
          <p:cNvSpPr/>
          <p:nvPr/>
        </p:nvSpPr>
        <p:spPr>
          <a:xfrm>
            <a:off x="7223760" y="3794760"/>
            <a:ext cx="4114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Breadboard build, enclosure, and validation across 5 test stages</a:t>
            </a:r>
            <a:endParaRPr lang="en-US" sz="1100" dirty="0"/>
          </a:p>
        </p:txBody>
      </p:sp>
      <p:sp>
        <p:nvSpPr>
          <p:cNvPr id="25" name="Shape 19"/>
          <p:cNvSpPr/>
          <p:nvPr/>
        </p:nvSpPr>
        <p:spPr>
          <a:xfrm>
            <a:off x="594360" y="5029200"/>
            <a:ext cx="521208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</p:spPr>
      </p:sp>
      <p:sp>
        <p:nvSpPr>
          <p:cNvPr id="26" name="Shape 20"/>
          <p:cNvSpPr/>
          <p:nvPr/>
        </p:nvSpPr>
        <p:spPr>
          <a:xfrm>
            <a:off x="795528" y="5426964"/>
            <a:ext cx="621792" cy="621792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44758" y="5576194"/>
            <a:ext cx="323332" cy="323332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1554480" y="5193792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2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&amp; Limitations</a:t>
            </a:r>
            <a:endParaRPr lang="en-US" sz="1500" dirty="0"/>
          </a:p>
        </p:txBody>
      </p:sp>
      <p:sp>
        <p:nvSpPr>
          <p:cNvPr id="29" name="Text 22"/>
          <p:cNvSpPr/>
          <p:nvPr/>
        </p:nvSpPr>
        <p:spPr>
          <a:xfrm>
            <a:off x="1554480" y="5532120"/>
            <a:ext cx="4114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works today, and what the system can't do yet</a:t>
            </a:r>
            <a:endParaRPr lang="en-US" sz="1100" dirty="0"/>
          </a:p>
        </p:txBody>
      </p:sp>
      <p:sp>
        <p:nvSpPr>
          <p:cNvPr id="30" name="Shape 23"/>
          <p:cNvSpPr/>
          <p:nvPr/>
        </p:nvSpPr>
        <p:spPr>
          <a:xfrm>
            <a:off x="6263640" y="5029200"/>
            <a:ext cx="521208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</p:spPr>
      </p:sp>
      <p:sp>
        <p:nvSpPr>
          <p:cNvPr id="31" name="Shape 24"/>
          <p:cNvSpPr/>
          <p:nvPr/>
        </p:nvSpPr>
        <p:spPr>
          <a:xfrm>
            <a:off x="6464808" y="5426964"/>
            <a:ext cx="621792" cy="621792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32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14038" y="5576194"/>
            <a:ext cx="323332" cy="323332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7223760" y="5193792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2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 &amp; Conclusion</a:t>
            </a:r>
            <a:endParaRPr lang="en-US" sz="1500" dirty="0"/>
          </a:p>
        </p:txBody>
      </p:sp>
      <p:sp>
        <p:nvSpPr>
          <p:cNvPr id="34" name="Text 26"/>
          <p:cNvSpPr/>
          <p:nvPr/>
        </p:nvSpPr>
        <p:spPr>
          <a:xfrm>
            <a:off x="7223760" y="5532120"/>
            <a:ext cx="4114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feedback module and where this goes next</a:t>
            </a:r>
            <a:endParaRPr lang="en-US" sz="1100" dirty="0"/>
          </a:p>
        </p:txBody>
      </p:sp>
      <p:sp>
        <p:nvSpPr>
          <p:cNvPr id="35" name="Text 27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 Based Home Automation System</a:t>
            </a:r>
            <a:endParaRPr lang="en-US" sz="900" dirty="0"/>
          </a:p>
        </p:txBody>
      </p:sp>
      <p:sp>
        <p:nvSpPr>
          <p:cNvPr id="36" name="Text 28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19150946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 IMPLEMENTATION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2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Prototype Build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170432"/>
            <a:ext cx="548640" cy="45720"/>
          </a:xfrm>
          <a:prstGeom prst="rect">
            <a:avLst/>
          </a:prstGeom>
          <a:solidFill>
            <a:srgbClr val="F2A93B"/>
          </a:solidFill>
          <a:ln/>
        </p:spPr>
      </p:sp>
      <p:sp>
        <p:nvSpPr>
          <p:cNvPr id="5" name="Shape 3"/>
          <p:cNvSpPr/>
          <p:nvPr/>
        </p:nvSpPr>
        <p:spPr>
          <a:xfrm>
            <a:off x="521208" y="1618488"/>
            <a:ext cx="5221224" cy="3952494"/>
          </a:xfrm>
          <a:prstGeom prst="roundRect">
            <a:avLst>
              <a:gd name="adj" fmla="val 1851"/>
            </a:avLst>
          </a:prstGeom>
          <a:solidFill>
            <a:srgbClr val="FFFFFF"/>
          </a:solidFill>
          <a:ln w="12700">
            <a:solidFill>
              <a:srgbClr val="D8DFE8"/>
            </a:solidFill>
            <a:prstDash val="solid"/>
          </a:ln>
          <a:effectLst>
            <a:outerShdw blurRad="127000" dist="38100" dir="5400000" algn="bl" rotWithShape="0">
              <a:srgbClr val="12233F">
                <a:alpha val="25000"/>
              </a:srgbClr>
            </a:outerShdw>
          </a:effectLst>
        </p:spPr>
      </p:sp>
      <p:pic>
        <p:nvPicPr>
          <p:cNvPr id="6" name="Image 0" descr="/mnt/user-data/outputs/media/breadboard_prototype_running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691640"/>
            <a:ext cx="5074920" cy="380619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94360" y="5662422"/>
            <a:ext cx="5074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2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Running breadboard prototype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594360" y="5955030"/>
            <a:ext cx="5074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ESP32, 4-channel relay, DHT22 and LCD status display, all wired and powering up.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6327648" y="1618488"/>
            <a:ext cx="5221224" cy="3952494"/>
          </a:xfrm>
          <a:prstGeom prst="roundRect">
            <a:avLst>
              <a:gd name="adj" fmla="val 1851"/>
            </a:avLst>
          </a:prstGeom>
          <a:solidFill>
            <a:srgbClr val="FFFFFF"/>
          </a:solidFill>
          <a:ln w="12700">
            <a:solidFill>
              <a:srgbClr val="D8DFE8"/>
            </a:solidFill>
            <a:prstDash val="solid"/>
          </a:ln>
          <a:effectLst>
            <a:outerShdw blurRad="127000" dist="38100" dir="5400000" algn="bl" rotWithShape="0">
              <a:srgbClr val="12233F">
                <a:alpha val="25000"/>
              </a:srgbClr>
            </a:outerShdw>
          </a:effectLst>
        </p:spPr>
      </p:sp>
      <p:pic>
        <p:nvPicPr>
          <p:cNvPr id="10" name="Image 1" descr="/mnt/user-data/outputs/media/wood_enclosure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0" y="1691640"/>
            <a:ext cx="5074920" cy="380619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400800" y="5662422"/>
            <a:ext cx="5074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2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Wooden enclosure (wood + paint work)</a:t>
            </a:r>
            <a:endParaRPr lang="en-US" sz="1250" dirty="0"/>
          </a:p>
        </p:txBody>
      </p:sp>
      <p:sp>
        <p:nvSpPr>
          <p:cNvPr id="12" name="Text 8"/>
          <p:cNvSpPr/>
          <p:nvPr/>
        </p:nvSpPr>
        <p:spPr>
          <a:xfrm>
            <a:off x="6400800" y="5955030"/>
            <a:ext cx="5074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Compartmentalized plywood frame keeping mains wiring isolated from low-voltage electronics.</a:t>
            </a:r>
            <a:endParaRPr lang="en-US" sz="1050" dirty="0"/>
          </a:p>
        </p:txBody>
      </p:sp>
      <p:sp>
        <p:nvSpPr>
          <p:cNvPr id="13" name="Text 9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 Based Home Automation System</a:t>
            </a:r>
            <a:endParaRPr lang="en-US" sz="900" dirty="0"/>
          </a:p>
        </p:txBody>
      </p:sp>
      <p:sp>
        <p:nvSpPr>
          <p:cNvPr id="14" name="Text 10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39140468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060">
            <a:alpha val="87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 RESULTS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Prototype Delivers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94360" y="1691640"/>
            <a:ext cx="2606040" cy="1965960"/>
          </a:xfrm>
          <a:prstGeom prst="roundRect">
            <a:avLst>
              <a:gd name="adj" fmla="val 3721"/>
            </a:avLst>
          </a:prstGeom>
          <a:solidFill>
            <a:srgbClr val="1A3157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920240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731520" y="269748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Appliances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301752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controlled independently via relay channels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383280" y="1691640"/>
            <a:ext cx="2606040" cy="1965960"/>
          </a:xfrm>
          <a:prstGeom prst="roundRect">
            <a:avLst>
              <a:gd name="adj" fmla="val 3721"/>
            </a:avLst>
          </a:prstGeom>
          <a:solidFill>
            <a:srgbClr val="1A3157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520440" y="1920240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±0.5°C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3520440" y="269748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 accuracy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520440" y="301752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DHT22 temperature reading precision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172200" y="1691640"/>
            <a:ext cx="2606040" cy="1965960"/>
          </a:xfrm>
          <a:prstGeom prst="roundRect">
            <a:avLst>
              <a:gd name="adj" fmla="val 3721"/>
            </a:avLst>
          </a:prstGeom>
          <a:solidFill>
            <a:srgbClr val="1A3157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09360" y="1920240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3400" dirty="0"/>
          </a:p>
        </p:txBody>
      </p:sp>
      <p:sp>
        <p:nvSpPr>
          <p:cNvPr id="14" name="Text 12"/>
          <p:cNvSpPr/>
          <p:nvPr/>
        </p:nvSpPr>
        <p:spPr>
          <a:xfrm>
            <a:off x="6309360" y="269748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services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309360" y="301752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self-hosted on the ESP32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8961120" y="1691640"/>
            <a:ext cx="2606040" cy="1965960"/>
          </a:xfrm>
          <a:prstGeom prst="roundRect">
            <a:avLst>
              <a:gd name="adj" fmla="val 3721"/>
            </a:avLst>
          </a:prstGeom>
          <a:solidFill>
            <a:srgbClr val="1A3157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098280" y="1920240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3400" dirty="0"/>
          </a:p>
        </p:txBody>
      </p:sp>
      <p:sp>
        <p:nvSpPr>
          <p:cNvPr id="18" name="Text 16"/>
          <p:cNvSpPr/>
          <p:nvPr/>
        </p:nvSpPr>
        <p:spPr>
          <a:xfrm>
            <a:off x="9098280" y="269748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stages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9098280" y="301752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unit, sensor, network, dashboard, integration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594360" y="402336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confirmed that relay switching, sensor readings, Wi-Fi connectivity, and the dashboard all function reliably together — meeting every objective set out in Chapter 1 of the report.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 Based Home Automation System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143732595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060">
            <a:alpha val="88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645920" y="-1828800"/>
            <a:ext cx="5029200" cy="5029200"/>
          </a:xfrm>
          <a:prstGeom prst="ellipse">
            <a:avLst/>
          </a:prstGeom>
          <a:solidFill>
            <a:srgbClr val="1A3157"/>
          </a:solidFill>
          <a:ln/>
        </p:spPr>
      </p:sp>
      <p:sp>
        <p:nvSpPr>
          <p:cNvPr id="3" name="Shape 1"/>
          <p:cNvSpPr/>
          <p:nvPr/>
        </p:nvSpPr>
        <p:spPr>
          <a:xfrm>
            <a:off x="9875520" y="4114800"/>
            <a:ext cx="4114800" cy="4114800"/>
          </a:xfrm>
          <a:prstGeom prst="ellipse">
            <a:avLst/>
          </a:prstGeom>
          <a:solidFill>
            <a:srgbClr val="1A3157"/>
          </a:solidFill>
          <a:ln/>
        </p:spPr>
      </p:sp>
      <p:sp>
        <p:nvSpPr>
          <p:cNvPr id="4" name="Shape 2"/>
          <p:cNvSpPr/>
          <p:nvPr/>
        </p:nvSpPr>
        <p:spPr>
          <a:xfrm>
            <a:off x="5592928" y="1874520"/>
            <a:ext cx="1005840" cy="1005840"/>
          </a:xfrm>
          <a:prstGeom prst="ellipse">
            <a:avLst/>
          </a:prstGeom>
          <a:solidFill>
            <a:srgbClr val="F2A93B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34329" y="2115922"/>
            <a:ext cx="523037" cy="523037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0" y="3154680"/>
            <a:ext cx="121916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30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 LIVE DEMONSTRATION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0" y="3474720"/>
            <a:ext cx="121916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Prototype Walkthrough</a:t>
            </a:r>
            <a:endParaRPr lang="en-US" sz="3200" dirty="0"/>
          </a:p>
        </p:txBody>
      </p:sp>
      <p:sp>
        <p:nvSpPr>
          <p:cNvPr id="8" name="Text 5"/>
          <p:cNvSpPr/>
          <p:nvPr/>
        </p:nvSpPr>
        <p:spPr>
          <a:xfrm>
            <a:off x="1097280" y="4251960"/>
            <a:ext cx="99971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Toggling appliances from the dashboard, live sensor readings, and automatic fan control — demonstrated on the physical prototype</a:t>
            </a:r>
            <a:endParaRPr lang="en-US" sz="1350" dirty="0"/>
          </a:p>
        </p:txBody>
      </p:sp>
    </p:spTree>
    <p:extLst>
      <p:ext uri="{BB962C8B-B14F-4D97-AF65-F5344CB8AC3E}">
        <p14:creationId xmlns:p14="http://schemas.microsoft.com/office/powerpoint/2010/main" val="287213450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INTRODUCTION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Introduction &amp; Problem Statement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5532120" cy="4965192"/>
          </a:xfrm>
          <a:prstGeom prst="roundRect">
            <a:avLst>
              <a:gd name="adj" fmla="val 1509"/>
            </a:avLst>
          </a:prstGeom>
          <a:solidFill>
            <a:srgbClr val="FFFFFF"/>
          </a:solidFill>
          <a:ln w="12700">
            <a:solidFill>
              <a:srgbClr val="E1E7E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73736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This Project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62000" y="2194560"/>
            <a:ext cx="5318760" cy="40965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85750" indent="-285750">
              <a:lnSpc>
                <a:spcPct val="125000"/>
              </a:lnSpc>
              <a:spcAft>
                <a:spcPts val="1200"/>
              </a:spcAft>
              <a:buSzPct val="100000"/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lnSpc>
                <a:spcPct val="125000"/>
              </a:lnSpc>
              <a:spcAft>
                <a:spcPts val="12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dirty="0"/>
              <a:t>The rapid growth of IoT has transformed how we interact with everyday living spaces.</a:t>
            </a:r>
          </a:p>
          <a:p>
            <a:pPr marL="285750" indent="-285750">
              <a:lnSpc>
                <a:spcPct val="125000"/>
              </a:lnSpc>
              <a:spcAft>
                <a:spcPts val="12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dirty="0"/>
              <a:t>Low-cost boards like the ESP32 combine Wi-Fi + Bluetooth, making DIY home automation more accessible than ever.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/>
              <a:t>Many homes still use traditional manual switches. </a:t>
            </a:r>
          </a:p>
          <a:p>
            <a:pPr lvl="0"/>
            <a:endParaRPr lang="en-US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/>
              <a:t>Manual systems cannot be controlled remotely or automatically. </a:t>
            </a:r>
          </a:p>
          <a:p>
            <a:pPr lvl="0"/>
            <a:endParaRPr lang="en-US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/>
              <a:t>Most commercial smart-home systems are expensive and vendor-locked.</a:t>
            </a:r>
          </a:p>
          <a:p>
            <a:pPr>
              <a:lnSpc>
                <a:spcPct val="125000"/>
              </a:lnSpc>
              <a:spcAft>
                <a:spcPts val="1200"/>
              </a:spcAft>
              <a:buSzPct val="100000"/>
            </a:pP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309360" y="1508760"/>
            <a:ext cx="5349240" cy="4846320"/>
          </a:xfrm>
          <a:prstGeom prst="roundRect">
            <a:avLst>
              <a:gd name="adj" fmla="val 1509"/>
            </a:avLst>
          </a:prstGeom>
          <a:solidFill>
            <a:srgbClr val="21295C"/>
          </a:solidFill>
          <a:ln/>
        </p:spPr>
      </p:sp>
      <p:sp>
        <p:nvSpPr>
          <p:cNvPr id="8" name="Text 6"/>
          <p:cNvSpPr/>
          <p:nvPr/>
        </p:nvSpPr>
        <p:spPr>
          <a:xfrm>
            <a:off x="6583680" y="17373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200" dirty="0">
                <a:solidFill>
                  <a:srgbClr val="E0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583680" y="2194560"/>
            <a:ext cx="384048" cy="384048"/>
          </a:xfrm>
          <a:prstGeom prst="ellipse">
            <a:avLst/>
          </a:prstGeom>
          <a:solidFill>
            <a:srgbClr val="E0A93B"/>
          </a:solidFill>
          <a:ln/>
        </p:spPr>
      </p:sp>
      <p:sp>
        <p:nvSpPr>
          <p:cNvPr id="10" name="Text 8"/>
          <p:cNvSpPr/>
          <p:nvPr/>
        </p:nvSpPr>
        <p:spPr>
          <a:xfrm>
            <a:off x="6583680" y="219456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7132320" y="2167128"/>
            <a:ext cx="4297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Remote Control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132320" y="2468880"/>
            <a:ext cx="4297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ct val="115000"/>
              </a:lnSpc>
            </a:pPr>
            <a:r>
              <a:rPr lang="en-US" sz="1400" dirty="0">
                <a:solidFill>
                  <a:schemeClr val="bg1"/>
                </a:solidFill>
              </a:rPr>
              <a:t>Traditional switches cannot be operated from a phone or PC</a:t>
            </a:r>
            <a:r>
              <a:rPr lang="en-US" sz="1400" dirty="0"/>
              <a:t>.</a:t>
            </a:r>
            <a:r>
              <a:rPr lang="en-US" sz="1400" dirty="0">
                <a:solidFill>
                  <a:schemeClr val="bg1"/>
                </a:solidFill>
              </a:rPr>
              <a:t> Or remotely.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583680" y="3227832"/>
            <a:ext cx="384048" cy="384048"/>
          </a:xfrm>
          <a:prstGeom prst="ellipse">
            <a:avLst/>
          </a:prstGeom>
          <a:solidFill>
            <a:srgbClr val="E0A93B"/>
          </a:solidFill>
          <a:ln/>
        </p:spPr>
      </p:sp>
      <p:sp>
        <p:nvSpPr>
          <p:cNvPr id="14" name="Text 12"/>
          <p:cNvSpPr/>
          <p:nvPr/>
        </p:nvSpPr>
        <p:spPr>
          <a:xfrm>
            <a:off x="6583680" y="322783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7132320" y="3200400"/>
            <a:ext cx="4297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 Lock-In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132320" y="3502152"/>
            <a:ext cx="4297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ct val="115000"/>
              </a:lnSpc>
            </a:pPr>
            <a:r>
              <a:rPr lang="en-US" sz="1400" dirty="0">
                <a:solidFill>
                  <a:schemeClr val="bg1"/>
                </a:solidFill>
              </a:rPr>
              <a:t>Closed hardware and application software is used by most commercial systems.</a:t>
            </a:r>
          </a:p>
        </p:txBody>
      </p:sp>
      <p:sp>
        <p:nvSpPr>
          <p:cNvPr id="17" name="Shape 15"/>
          <p:cNvSpPr/>
          <p:nvPr/>
        </p:nvSpPr>
        <p:spPr>
          <a:xfrm>
            <a:off x="6583680" y="4261104"/>
            <a:ext cx="384048" cy="384048"/>
          </a:xfrm>
          <a:prstGeom prst="ellipse">
            <a:avLst/>
          </a:prstGeom>
          <a:solidFill>
            <a:srgbClr val="E0A93B"/>
          </a:solidFill>
          <a:ln/>
        </p:spPr>
      </p:sp>
      <p:sp>
        <p:nvSpPr>
          <p:cNvPr id="18" name="Text 16"/>
          <p:cNvSpPr/>
          <p:nvPr/>
        </p:nvSpPr>
        <p:spPr>
          <a:xfrm>
            <a:off x="6583680" y="426110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7132320" y="4233672"/>
            <a:ext cx="4297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Cost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7132320" y="4535424"/>
            <a:ext cx="4297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ct val="115000"/>
              </a:lnSpc>
            </a:pPr>
            <a:r>
              <a:rPr lang="en-US" sz="1400" dirty="0">
                <a:solidFill>
                  <a:schemeClr val="bg1"/>
                </a:solidFill>
              </a:rPr>
              <a:t>The cost of commercial smart home systems is high for many families.</a:t>
            </a:r>
          </a:p>
        </p:txBody>
      </p:sp>
      <p:sp>
        <p:nvSpPr>
          <p:cNvPr id="21" name="Shape 19"/>
          <p:cNvSpPr/>
          <p:nvPr/>
        </p:nvSpPr>
        <p:spPr>
          <a:xfrm>
            <a:off x="6583680" y="5294376"/>
            <a:ext cx="384048" cy="384048"/>
          </a:xfrm>
          <a:prstGeom prst="ellipse">
            <a:avLst/>
          </a:prstGeom>
          <a:solidFill>
            <a:srgbClr val="E0A93B"/>
          </a:solidFill>
          <a:ln/>
        </p:spPr>
      </p:sp>
      <p:sp>
        <p:nvSpPr>
          <p:cNvPr id="22" name="Text 20"/>
          <p:cNvSpPr/>
          <p:nvPr/>
        </p:nvSpPr>
        <p:spPr>
          <a:xfrm>
            <a:off x="6583680" y="529437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7132320" y="5266944"/>
            <a:ext cx="4297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Climate Response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7132320" y="5568696"/>
            <a:ext cx="4297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ct val="115000"/>
              </a:lnSpc>
            </a:pPr>
            <a:r>
              <a:rPr lang="en-US" sz="1400" dirty="0">
                <a:solidFill>
                  <a:schemeClr val="bg1"/>
                </a:solidFill>
              </a:rPr>
              <a:t>Fans and household appliances do not react automatically to temperature or humidity.</a:t>
            </a:r>
          </a:p>
        </p:txBody>
      </p:sp>
      <p:sp>
        <p:nvSpPr>
          <p:cNvPr id="25" name="Text 23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 Based Home Automation System  |  Kathmandu University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RELATED WORK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Literature Review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this project's approach compares with recent ESP32-based home automation research.</a:t>
            </a:r>
            <a:endParaRPr lang="en-US" sz="16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55337906"/>
              </p:ext>
            </p:extLst>
          </p:nvPr>
        </p:nvGraphicFramePr>
        <p:xfrm>
          <a:off x="548640" y="1965960"/>
          <a:ext cx="11064240" cy="2487168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34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System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Control Method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Sensor-Driven Automation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Cloud / 3rd-Party Dependency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rgbClr val="1B1F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Anusha et al. (2024)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1B1F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Relay module, Wi-Fi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1B1F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 — sensor monitoring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1B1F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rgbClr val="1B1F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Kakani et al. (2024)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1B1F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Blynk mobile app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1B1F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1B1F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 — Blynk cloud + account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This Project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Self-hosted ESP32 web dashboard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 — DHT22 auto fan control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— fully local network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4709160"/>
            <a:ext cx="110642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1E7EE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22960" y="4864608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Gap Identified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822960" y="5175504"/>
            <a:ext cx="10515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B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work either depends on a third-party app/cloud for control, or offers a self-hosted dashboard with only basic on/off switching. Very few projects combine a self-hosted dashboard, sensor-driven automation, and planned voice feedback in one low-cost prototype — the gap this project addresses.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 Based Home Automation System  |  Kathmandu University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GOALS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Objectives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440680" cy="2240280"/>
          </a:xfrm>
          <a:prstGeom prst="roundRect">
            <a:avLst>
              <a:gd name="adj" fmla="val 3673"/>
            </a:avLst>
          </a:prstGeom>
          <a:solidFill>
            <a:srgbClr val="FFFFFF"/>
          </a:solidFill>
          <a:ln w="12700">
            <a:solidFill>
              <a:srgbClr val="E1E7EE"/>
            </a:solidFill>
            <a:prstDash val="solid"/>
          </a:ln>
          <a:effectLst>
            <a:outerShdw blurRad="76200" dist="25400" dir="5400000" algn="bl" rotWithShape="0">
              <a:srgbClr val="9AA7B5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1920240"/>
            <a:ext cx="548640" cy="54864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9202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600200" y="1911096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Design a Smart Core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868680" y="2651760"/>
            <a:ext cx="48463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ct val="125000"/>
              </a:lnSpc>
            </a:pPr>
            <a:r>
              <a:rPr lang="en-US" b="1" dirty="0"/>
              <a:t>Design a Smart Home Automation System Using ESP32.</a:t>
            </a:r>
          </a:p>
        </p:txBody>
      </p:sp>
      <p:sp>
        <p:nvSpPr>
          <p:cNvPr id="9" name="Shape 7"/>
          <p:cNvSpPr/>
          <p:nvPr/>
        </p:nvSpPr>
        <p:spPr>
          <a:xfrm>
            <a:off x="6172200" y="1600200"/>
            <a:ext cx="5440680" cy="2240280"/>
          </a:xfrm>
          <a:prstGeom prst="roundRect">
            <a:avLst>
              <a:gd name="adj" fmla="val 3673"/>
            </a:avLst>
          </a:prstGeom>
          <a:solidFill>
            <a:srgbClr val="FFFFFF"/>
          </a:solidFill>
          <a:ln w="12700">
            <a:solidFill>
              <a:srgbClr val="E1E7EE"/>
            </a:solidFill>
            <a:prstDash val="solid"/>
          </a:ln>
          <a:effectLst>
            <a:outerShdw blurRad="76200" dist="25400" dir="5400000" algn="bl" rotWithShape="0">
              <a:srgbClr val="9AA7B5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92240" y="1920240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1" name="Text 9"/>
          <p:cNvSpPr/>
          <p:nvPr/>
        </p:nvSpPr>
        <p:spPr>
          <a:xfrm>
            <a:off x="6492240" y="19202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7223760" y="1911096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Control Appliances Remotely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6492240" y="2651760"/>
            <a:ext cx="48463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ct val="125000"/>
              </a:lnSpc>
            </a:pPr>
            <a:r>
              <a:rPr lang="en-US" b="1" dirty="0"/>
              <a:t>Control various appliances using 4-channels relay using a web interface.</a:t>
            </a:r>
          </a:p>
        </p:txBody>
      </p:sp>
      <p:sp>
        <p:nvSpPr>
          <p:cNvPr id="14" name="Shape 12"/>
          <p:cNvSpPr/>
          <p:nvPr/>
        </p:nvSpPr>
        <p:spPr>
          <a:xfrm>
            <a:off x="548640" y="4069080"/>
            <a:ext cx="5440680" cy="2240280"/>
          </a:xfrm>
          <a:prstGeom prst="roundRect">
            <a:avLst>
              <a:gd name="adj" fmla="val 3673"/>
            </a:avLst>
          </a:prstGeom>
          <a:solidFill>
            <a:srgbClr val="FFFFFF"/>
          </a:solidFill>
          <a:ln w="12700">
            <a:solidFill>
              <a:srgbClr val="E1E7EE"/>
            </a:solidFill>
            <a:prstDash val="solid"/>
          </a:ln>
          <a:effectLst>
            <a:outerShdw blurRad="76200" dist="25400" dir="5400000" algn="bl" rotWithShape="0">
              <a:srgbClr val="9AA7B5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68680" y="4389120"/>
            <a:ext cx="548640" cy="548640"/>
          </a:xfrm>
          <a:prstGeom prst="ellipse">
            <a:avLst/>
          </a:prstGeom>
          <a:solidFill>
            <a:srgbClr val="21295C"/>
          </a:solidFill>
          <a:ln/>
        </p:spPr>
      </p:sp>
      <p:sp>
        <p:nvSpPr>
          <p:cNvPr id="16" name="Text 14"/>
          <p:cNvSpPr/>
          <p:nvPr/>
        </p:nvSpPr>
        <p:spPr>
          <a:xfrm>
            <a:off x="868680" y="43891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600200" y="4379976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Automate Climate Response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868680" y="5120640"/>
            <a:ext cx="48463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ct val="125000"/>
              </a:lnSpc>
            </a:pPr>
            <a:r>
              <a:rPr lang="en-US" b="1" dirty="0">
                <a:solidFill>
                  <a:srgbClr val="1B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a fan according to temperature and humidity using DHT22 sensor automatically.</a:t>
            </a:r>
            <a:endParaRPr lang="en-US" b="1" dirty="0"/>
          </a:p>
        </p:txBody>
      </p:sp>
      <p:sp>
        <p:nvSpPr>
          <p:cNvPr id="19" name="Shape 17"/>
          <p:cNvSpPr/>
          <p:nvPr/>
        </p:nvSpPr>
        <p:spPr>
          <a:xfrm>
            <a:off x="6172200" y="4069080"/>
            <a:ext cx="5440680" cy="2240280"/>
          </a:xfrm>
          <a:prstGeom prst="roundRect">
            <a:avLst>
              <a:gd name="adj" fmla="val 3673"/>
            </a:avLst>
          </a:prstGeom>
          <a:solidFill>
            <a:srgbClr val="FFFFFF"/>
          </a:solidFill>
          <a:ln w="12700">
            <a:solidFill>
              <a:srgbClr val="E1E7EE"/>
            </a:solidFill>
            <a:prstDash val="solid"/>
          </a:ln>
          <a:effectLst>
            <a:outerShdw blurRad="76200" dist="25400" dir="5400000" algn="bl" rotWithShape="0">
              <a:srgbClr val="9AA7B5">
                <a:alpha val="2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492240" y="4389120"/>
            <a:ext cx="548640" cy="548640"/>
          </a:xfrm>
          <a:prstGeom prst="ellipse">
            <a:avLst/>
          </a:prstGeom>
          <a:solidFill>
            <a:srgbClr val="3B7A93"/>
          </a:solidFill>
          <a:ln/>
        </p:spPr>
      </p:sp>
      <p:sp>
        <p:nvSpPr>
          <p:cNvPr id="21" name="Text 19"/>
          <p:cNvSpPr/>
          <p:nvPr/>
        </p:nvSpPr>
        <p:spPr>
          <a:xfrm>
            <a:off x="6492240" y="43891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7223760" y="4379976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Enable Remote Monitoring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6492240" y="5120640"/>
            <a:ext cx="48463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ct val="125000"/>
              </a:lnSpc>
            </a:pPr>
            <a:r>
              <a:rPr lang="en-US" b="1" dirty="0"/>
              <a:t>Control all relays remotely using a web interface hosted by the ESP32.</a:t>
            </a:r>
          </a:p>
        </p:txBody>
      </p:sp>
      <p:sp>
        <p:nvSpPr>
          <p:cNvPr id="24" name="Text 22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 Based Home Automation System  |  Kathmandu University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39090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ARCHITECTURE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79120" y="1133858"/>
            <a:ext cx="11033760" cy="5095492"/>
          </a:xfrm>
          <a:prstGeom prst="roundRect">
            <a:avLst>
              <a:gd name="adj" fmla="val 1553"/>
            </a:avLst>
          </a:prstGeom>
          <a:solidFill>
            <a:srgbClr val="FFFFFF"/>
          </a:solidFill>
          <a:ln w="12700">
            <a:solidFill>
              <a:srgbClr val="E1E7EE"/>
            </a:solidFill>
            <a:prstDash val="solid"/>
          </a:ln>
        </p:spPr>
      </p:sp>
      <p:pic>
        <p:nvPicPr>
          <p:cNvPr id="20" name="Architecture Diagram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83000" y="1383858"/>
            <a:ext cx="7026000" cy="459549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 Based Home Automation System  |  Kathmandu University</a:t>
            </a:r>
            <a:endParaRPr lang="en-US" sz="1000" dirty="0"/>
          </a:p>
        </p:txBody>
      </p:sp>
      <p:sp>
        <p:nvSpPr>
          <p:cNvPr id="12" name="Text 8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TECHNICAL DESIGN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Circuit Schematic &amp; Wiring Diagram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99060" y="1187115"/>
            <a:ext cx="7901940" cy="5204541"/>
          </a:xfrm>
          <a:prstGeom prst="roundRect">
            <a:avLst>
              <a:gd name="adj" fmla="val 1616"/>
            </a:avLst>
          </a:prstGeom>
          <a:solidFill>
            <a:srgbClr val="FFFFFF"/>
          </a:solidFill>
          <a:ln w="12700">
            <a:solidFill>
              <a:srgbClr val="E1E7EE"/>
            </a:solidFill>
            <a:prstDash val="solid"/>
          </a:ln>
        </p:spPr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02736857"/>
              </p:ext>
            </p:extLst>
          </p:nvPr>
        </p:nvGraphicFramePr>
        <p:xfrm>
          <a:off x="8046720" y="1187115"/>
          <a:ext cx="3856522" cy="2205308"/>
        </p:xfrm>
        <a:graphic>
          <a:graphicData uri="http://schemas.openxmlformats.org/drawingml/2006/table">
            <a:tbl>
              <a:tblPr/>
              <a:tblGrid>
                <a:gridCol w="126814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239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6444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6964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Signal</a:t>
                      </a:r>
                      <a:endParaRPr lang="en-US" sz="1200" b="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ESP32 Pin</a:t>
                      </a:r>
                      <a:endParaRPr lang="en-US" sz="1200" b="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Drives</a:t>
                      </a:r>
                      <a:endParaRPr lang="en-US" sz="1200" b="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0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B1F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Relay IN1–IN4</a:t>
                      </a:r>
                      <a:endParaRPr lang="en-US" sz="1200" b="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B1F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D16, D17, D18, D19</a:t>
                      </a:r>
                      <a:endParaRPr lang="en-US" sz="1200" b="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B1F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Light 1/2, Fan, Socket</a:t>
                      </a:r>
                      <a:endParaRPr lang="en-US" sz="1200" b="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1468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B1F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DHT22 Data</a:t>
                      </a:r>
                      <a:endParaRPr lang="en-US" sz="1200" b="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B1F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GPIO 4 (D4)</a:t>
                      </a:r>
                      <a:endParaRPr lang="en-US" sz="1200" b="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B1F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Temp &amp; humidity sensor</a:t>
                      </a:r>
                      <a:endParaRPr lang="en-US" sz="1200" b="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0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B1F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I2C SDA / SCL</a:t>
                      </a:r>
                      <a:endParaRPr lang="en-US" sz="1200" b="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B1F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Dedicated I2C pins</a:t>
                      </a:r>
                      <a:endParaRPr lang="en-US" sz="1200" b="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B1F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16×2 LCD status display</a:t>
                      </a:r>
                      <a:endParaRPr lang="en-US" sz="1200" b="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8046720" y="3465577"/>
            <a:ext cx="3856522" cy="2926080"/>
          </a:xfrm>
          <a:prstGeom prst="roundRect">
            <a:avLst>
              <a:gd name="adj" fmla="val 2500"/>
            </a:avLst>
          </a:prstGeom>
          <a:solidFill>
            <a:srgbClr val="065A82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8" name="Text 4"/>
          <p:cNvSpPr/>
          <p:nvPr/>
        </p:nvSpPr>
        <p:spPr>
          <a:xfrm>
            <a:off x="8092440" y="3630168"/>
            <a:ext cx="3383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kern="0" spc="120" dirty="0">
                <a:solidFill>
                  <a:srgbClr val="5CC8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WIRING &amp; SAFETY NOTES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8046720" y="3749040"/>
            <a:ext cx="338328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●"/>
            </a:pPr>
            <a:r>
              <a:rPr lang="en-US" sz="1200" dirty="0">
                <a:solidFill>
                  <a:srgbClr val="E7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 live/neutral wiring kept fully separate from low-voltage DC signal wiring.</a:t>
            </a:r>
            <a:endParaRPr lang="en-US" sz="1200" dirty="0"/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●"/>
            </a:pPr>
            <a:r>
              <a:rPr lang="en-US" sz="1200" dirty="0">
                <a:solidFill>
                  <a:srgbClr val="E7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5V/GND shared via breadboard power rails across ESP32, relay module &amp; DHT22.</a:t>
            </a:r>
            <a:endParaRPr lang="en-US" sz="1200" dirty="0"/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●"/>
            </a:pPr>
            <a:r>
              <a:rPr lang="en-US" sz="1200" dirty="0">
                <a:solidFill>
                  <a:srgbClr val="E7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Relay rated 10A/250V AC per channel — fits standard household loads.</a:t>
            </a:r>
            <a:endParaRPr lang="en-US" sz="1200" dirty="0"/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●"/>
            </a:pPr>
            <a:r>
              <a:rPr lang="en-US" sz="1200" dirty="0">
                <a:solidFill>
                  <a:srgbClr val="E7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Enclosure physically isolates mains wiring from control electronics.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 Based Home Automation System  |  Kathmandu University</a:t>
            </a:r>
            <a:endParaRPr lang="en-US" sz="1000" dirty="0"/>
          </a:p>
        </p:txBody>
      </p:sp>
      <p:sp>
        <p:nvSpPr>
          <p:cNvPr id="12" name="Text 8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E865EDEC-4570-3CBE-5F9E-67A90A734D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9367" y="1252728"/>
            <a:ext cx="7791553" cy="5038344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COMPONENTS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Hardware &amp; Software Components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62560" y="1506728"/>
            <a:ext cx="5440680" cy="4709160"/>
          </a:xfrm>
          <a:prstGeom prst="roundRect">
            <a:avLst>
              <a:gd name="adj" fmla="val 1553"/>
            </a:avLst>
          </a:prstGeom>
          <a:solidFill>
            <a:srgbClr val="FFFFFF"/>
          </a:solidFill>
          <a:ln w="12700">
            <a:solidFill>
              <a:srgbClr val="E1E7E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627632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kern="0" spc="20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868680" y="2066544"/>
            <a:ext cx="91440" cy="9144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7" name="Text 5"/>
          <p:cNvSpPr/>
          <p:nvPr/>
        </p:nvSpPr>
        <p:spPr>
          <a:xfrm>
            <a:off x="1097280" y="1938528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 Dev Board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97280" y="219456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Dual-core 240 MHz, Wi-Fi + Bluetooth, main controller</a:t>
            </a:r>
            <a:endParaRPr lang="en-US" sz="1400" b="1" dirty="0"/>
          </a:p>
        </p:txBody>
      </p:sp>
      <p:sp>
        <p:nvSpPr>
          <p:cNvPr id="9" name="Shape 7"/>
          <p:cNvSpPr/>
          <p:nvPr/>
        </p:nvSpPr>
        <p:spPr>
          <a:xfrm>
            <a:off x="868680" y="2724912"/>
            <a:ext cx="91440" cy="9144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0" name="Text 8"/>
          <p:cNvSpPr/>
          <p:nvPr/>
        </p:nvSpPr>
        <p:spPr>
          <a:xfrm>
            <a:off x="1097280" y="2596896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4-Channel Relay Module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97280" y="2852928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5V coil, 10A/250V AC per channel</a:t>
            </a:r>
            <a:endParaRPr lang="en-US" sz="1400" b="1" dirty="0"/>
          </a:p>
        </p:txBody>
      </p:sp>
      <p:sp>
        <p:nvSpPr>
          <p:cNvPr id="12" name="Shape 10"/>
          <p:cNvSpPr/>
          <p:nvPr/>
        </p:nvSpPr>
        <p:spPr>
          <a:xfrm>
            <a:off x="868680" y="3383280"/>
            <a:ext cx="91440" cy="9144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3" name="Text 11"/>
          <p:cNvSpPr/>
          <p:nvPr/>
        </p:nvSpPr>
        <p:spPr>
          <a:xfrm>
            <a:off x="1097280" y="3255264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DHT22 Sensor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097280" y="3511296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±0.5°C temp, ±2-5% RH, single-wire digital</a:t>
            </a:r>
            <a:endParaRPr lang="en-US" sz="1400" b="1" dirty="0"/>
          </a:p>
        </p:txBody>
      </p:sp>
      <p:sp>
        <p:nvSpPr>
          <p:cNvPr id="15" name="Shape 13"/>
          <p:cNvSpPr/>
          <p:nvPr/>
        </p:nvSpPr>
        <p:spPr>
          <a:xfrm>
            <a:off x="868680" y="4041648"/>
            <a:ext cx="91440" cy="9144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6" name="Text 14"/>
          <p:cNvSpPr/>
          <p:nvPr/>
        </p:nvSpPr>
        <p:spPr>
          <a:xfrm>
            <a:off x="1097280" y="3913632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I2C LCD (16×2)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097280" y="4169664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Displays live Wi-Fi &amp; status locally</a:t>
            </a:r>
            <a:endParaRPr lang="en-US" sz="1400" b="1" dirty="0"/>
          </a:p>
        </p:txBody>
      </p:sp>
      <p:sp>
        <p:nvSpPr>
          <p:cNvPr id="18" name="Shape 16"/>
          <p:cNvSpPr/>
          <p:nvPr/>
        </p:nvSpPr>
        <p:spPr>
          <a:xfrm>
            <a:off x="868680" y="4700016"/>
            <a:ext cx="91440" cy="9144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9" name="Text 17"/>
          <p:cNvSpPr/>
          <p:nvPr/>
        </p:nvSpPr>
        <p:spPr>
          <a:xfrm>
            <a:off x="1097280" y="4572000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5V/2A Power Supply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097280" y="4828032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Powers ESP32 and relay module</a:t>
            </a:r>
            <a:endParaRPr lang="en-US" sz="1400" b="1" dirty="0"/>
          </a:p>
        </p:txBody>
      </p:sp>
      <p:sp>
        <p:nvSpPr>
          <p:cNvPr id="21" name="Shape 19"/>
          <p:cNvSpPr/>
          <p:nvPr/>
        </p:nvSpPr>
        <p:spPr>
          <a:xfrm>
            <a:off x="868680" y="5358384"/>
            <a:ext cx="91440" cy="9144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2" name="Text 20"/>
          <p:cNvSpPr/>
          <p:nvPr/>
        </p:nvSpPr>
        <p:spPr>
          <a:xfrm>
            <a:off x="1097280" y="5230368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Breadboard &amp; Jumper Wires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097280" y="548640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Prototyping connections</a:t>
            </a:r>
            <a:endParaRPr lang="en-US" sz="1400" b="1" dirty="0"/>
          </a:p>
        </p:txBody>
      </p:sp>
      <p:sp>
        <p:nvSpPr>
          <p:cNvPr id="44" name="Text 42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 Based Home Automation System  |  Kathmandu University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pic>
        <p:nvPicPr>
          <p:cNvPr id="49" name="Picture 48">
            <a:extLst>
              <a:ext uri="{FF2B5EF4-FFF2-40B4-BE49-F238E27FC236}">
                <a16:creationId xmlns:a16="http://schemas.microsoft.com/office/drawing/2014/main" id="{473D4FC4-B89D-342A-42AF-1DC97D8E4A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2308" y="1506728"/>
            <a:ext cx="6367131" cy="470916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hape 2">
            <a:extLst>
              <a:ext uri="{FF2B5EF4-FFF2-40B4-BE49-F238E27FC236}">
                <a16:creationId xmlns:a16="http://schemas.microsoft.com/office/drawing/2014/main" id="{DA309FD6-FFFB-0A57-C4A4-D55278DBDF23}"/>
              </a:ext>
            </a:extLst>
          </p:cNvPr>
          <p:cNvSpPr/>
          <p:nvPr/>
        </p:nvSpPr>
        <p:spPr>
          <a:xfrm>
            <a:off x="6179554" y="452872"/>
            <a:ext cx="5396406" cy="5867613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E1E7EE"/>
            </a:solidFill>
            <a:prstDash val="solid"/>
          </a:ln>
        </p:spPr>
      </p:sp>
      <p:sp>
        <p:nvSpPr>
          <p:cNvPr id="11" name="Shape 2">
            <a:extLst>
              <a:ext uri="{FF2B5EF4-FFF2-40B4-BE49-F238E27FC236}">
                <a16:creationId xmlns:a16="http://schemas.microsoft.com/office/drawing/2014/main" id="{5A40FB82-CF30-A313-929D-C67754A5F46E}"/>
              </a:ext>
            </a:extLst>
          </p:cNvPr>
          <p:cNvSpPr/>
          <p:nvPr/>
        </p:nvSpPr>
        <p:spPr>
          <a:xfrm>
            <a:off x="484928" y="452872"/>
            <a:ext cx="5166841" cy="5867613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E1E7EE"/>
            </a:solidFill>
            <a:prstDash val="solid"/>
          </a:ln>
        </p:spPr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4ED64BD-6D94-1FDC-BEFD-87FE46B74B1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741" t="8266" r="8419" b="10000"/>
          <a:stretch>
            <a:fillRect/>
          </a:stretch>
        </p:blipFill>
        <p:spPr>
          <a:xfrm>
            <a:off x="596584" y="1500042"/>
            <a:ext cx="4943527" cy="468419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C191F56-331C-3E6D-44A3-3F0C757C59F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0785" t="9185" r="13045" b="9630"/>
          <a:stretch>
            <a:fillRect/>
          </a:stretch>
        </p:blipFill>
        <p:spPr>
          <a:xfrm>
            <a:off x="6336632" y="1381327"/>
            <a:ext cx="5120597" cy="4802905"/>
          </a:xfrm>
          <a:prstGeom prst="rect">
            <a:avLst/>
          </a:prstGeom>
        </p:spPr>
      </p:pic>
      <p:sp>
        <p:nvSpPr>
          <p:cNvPr id="15" name="Shape 3">
            <a:extLst>
              <a:ext uri="{FF2B5EF4-FFF2-40B4-BE49-F238E27FC236}">
                <a16:creationId xmlns:a16="http://schemas.microsoft.com/office/drawing/2014/main" id="{61E0E949-1227-B2C4-80E1-DCA2829D6429}"/>
              </a:ext>
            </a:extLst>
          </p:cNvPr>
          <p:cNvSpPr/>
          <p:nvPr/>
        </p:nvSpPr>
        <p:spPr>
          <a:xfrm>
            <a:off x="616040" y="537515"/>
            <a:ext cx="5035729" cy="549467"/>
          </a:xfrm>
          <a:prstGeom prst="roundRect">
            <a:avLst>
              <a:gd name="adj" fmla="val 16000"/>
            </a:avLst>
          </a:prstGeom>
          <a:solidFill>
            <a:srgbClr val="065A82"/>
          </a:solidFill>
          <a:ln/>
        </p:spPr>
      </p:sp>
      <p:sp>
        <p:nvSpPr>
          <p:cNvPr id="17" name="Text 5">
            <a:extLst>
              <a:ext uri="{FF2B5EF4-FFF2-40B4-BE49-F238E27FC236}">
                <a16:creationId xmlns:a16="http://schemas.microsoft.com/office/drawing/2014/main" id="{963C3BE8-006E-4F97-5F82-A7F70C203B6B}"/>
              </a:ext>
            </a:extLst>
          </p:cNvPr>
          <p:cNvSpPr/>
          <p:nvPr/>
        </p:nvSpPr>
        <p:spPr>
          <a:xfrm>
            <a:off x="322042" y="607227"/>
            <a:ext cx="5379227" cy="41004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endParaRPr lang="en-US" sz="3200" b="1" dirty="0">
              <a:solidFill>
                <a:schemeClr val="bg1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algn="ctr"/>
            <a:endParaRPr lang="en-US" sz="3200" b="1" dirty="0">
              <a:solidFill>
                <a:schemeClr val="bg1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algn="ctr"/>
            <a:r>
              <a:rPr lang="en-US" sz="3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4-Channel Relay Module</a:t>
            </a:r>
            <a:endParaRPr lang="en-US" sz="3200" dirty="0">
              <a:solidFill>
                <a:schemeClr val="bg1"/>
              </a:solidFill>
            </a:endParaRPr>
          </a:p>
          <a:p>
            <a:pPr algn="ctr"/>
            <a:endParaRPr lang="en-US" sz="3200" dirty="0">
              <a:solidFill>
                <a:schemeClr val="bg1"/>
              </a:solidFill>
            </a:endParaRPr>
          </a:p>
          <a:p>
            <a:pPr marL="0" indent="0" algn="ctr">
              <a:buNone/>
            </a:pPr>
            <a:endParaRPr lang="en-US" sz="3200" dirty="0">
              <a:solidFill>
                <a:schemeClr val="bg1"/>
              </a:solidFill>
            </a:endParaRPr>
          </a:p>
        </p:txBody>
      </p:sp>
      <p:sp>
        <p:nvSpPr>
          <p:cNvPr id="19" name="Shape 3">
            <a:extLst>
              <a:ext uri="{FF2B5EF4-FFF2-40B4-BE49-F238E27FC236}">
                <a16:creationId xmlns:a16="http://schemas.microsoft.com/office/drawing/2014/main" id="{672B21D9-3A5C-3C14-5AF1-D835D73C192D}"/>
              </a:ext>
            </a:extLst>
          </p:cNvPr>
          <p:cNvSpPr/>
          <p:nvPr/>
        </p:nvSpPr>
        <p:spPr>
          <a:xfrm>
            <a:off x="6277169" y="567498"/>
            <a:ext cx="5241255" cy="646331"/>
          </a:xfrm>
          <a:prstGeom prst="roundRect">
            <a:avLst>
              <a:gd name="adj" fmla="val 16000"/>
            </a:avLst>
          </a:prstGeom>
          <a:solidFill>
            <a:srgbClr val="065A82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21" name="Text 5">
            <a:extLst>
              <a:ext uri="{FF2B5EF4-FFF2-40B4-BE49-F238E27FC236}">
                <a16:creationId xmlns:a16="http://schemas.microsoft.com/office/drawing/2014/main" id="{CE67407B-1C96-1FB0-AE3D-EBFFB6B29CE5}"/>
              </a:ext>
            </a:extLst>
          </p:cNvPr>
          <p:cNvSpPr/>
          <p:nvPr/>
        </p:nvSpPr>
        <p:spPr>
          <a:xfrm>
            <a:off x="6448926" y="826168"/>
            <a:ext cx="5233233" cy="166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endParaRPr lang="en-US" sz="3600" b="1" dirty="0">
              <a:solidFill>
                <a:schemeClr val="bg1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algn="ctr"/>
            <a:endParaRPr lang="en-US" sz="3600" b="1" dirty="0">
              <a:solidFill>
                <a:schemeClr val="bg1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algn="ctr"/>
            <a:r>
              <a:rPr lang="en-US" sz="3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DHT22 Sensor</a:t>
            </a:r>
            <a:endParaRPr lang="en-US" sz="3600" dirty="0">
              <a:solidFill>
                <a:schemeClr val="bg1"/>
              </a:solidFill>
            </a:endParaRPr>
          </a:p>
          <a:p>
            <a:pPr algn="ctr"/>
            <a:endParaRPr lang="en-US" sz="3600" dirty="0">
              <a:solidFill>
                <a:schemeClr val="bg1"/>
              </a:solidFill>
            </a:endParaRPr>
          </a:p>
          <a:p>
            <a:pPr marL="0" indent="0" algn="ctr">
              <a:buNone/>
            </a:pPr>
            <a:endParaRPr lang="en-US" sz="36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5602787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hape 2">
            <a:extLst>
              <a:ext uri="{FF2B5EF4-FFF2-40B4-BE49-F238E27FC236}">
                <a16:creationId xmlns:a16="http://schemas.microsoft.com/office/drawing/2014/main" id="{8B83D74C-B98A-6C9B-94D2-CE7DFBE1D9B2}"/>
              </a:ext>
            </a:extLst>
          </p:cNvPr>
          <p:cNvSpPr/>
          <p:nvPr/>
        </p:nvSpPr>
        <p:spPr>
          <a:xfrm>
            <a:off x="6313967" y="358914"/>
            <a:ext cx="5420833" cy="5982512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E1E7EE"/>
            </a:solidFill>
            <a:prstDash val="solid"/>
          </a:ln>
        </p:spPr>
      </p:sp>
      <p:sp>
        <p:nvSpPr>
          <p:cNvPr id="11" name="Shape 2">
            <a:extLst>
              <a:ext uri="{FF2B5EF4-FFF2-40B4-BE49-F238E27FC236}">
                <a16:creationId xmlns:a16="http://schemas.microsoft.com/office/drawing/2014/main" id="{1FECE9C3-4440-AE66-3284-B75C9D669EEA}"/>
              </a:ext>
            </a:extLst>
          </p:cNvPr>
          <p:cNvSpPr/>
          <p:nvPr/>
        </p:nvSpPr>
        <p:spPr>
          <a:xfrm>
            <a:off x="407867" y="332339"/>
            <a:ext cx="5470168" cy="6003012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E1E7EE"/>
            </a:solidFill>
            <a:prstDash val="solid"/>
          </a:ln>
        </p:spPr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C1D90A1-B038-1A3E-48BD-7D885ACBBFD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444" t="7260" r="5852" b="13739"/>
          <a:stretch>
            <a:fillRect/>
          </a:stretch>
        </p:blipFill>
        <p:spPr>
          <a:xfrm>
            <a:off x="568620" y="1534940"/>
            <a:ext cx="5190496" cy="473256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3832EE6-D493-800E-FED0-4843CD49A08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222" t="5927" r="3505" b="9332"/>
          <a:stretch>
            <a:fillRect/>
          </a:stretch>
        </p:blipFill>
        <p:spPr>
          <a:xfrm>
            <a:off x="6399213" y="1719251"/>
            <a:ext cx="5224168" cy="4469985"/>
          </a:xfrm>
          <a:prstGeom prst="rect">
            <a:avLst/>
          </a:prstGeom>
        </p:spPr>
      </p:pic>
      <p:sp>
        <p:nvSpPr>
          <p:cNvPr id="15" name="Shape 3">
            <a:extLst>
              <a:ext uri="{FF2B5EF4-FFF2-40B4-BE49-F238E27FC236}">
                <a16:creationId xmlns:a16="http://schemas.microsoft.com/office/drawing/2014/main" id="{054A5BFB-910B-C9E0-7E4E-D870BE3DA5E5}"/>
              </a:ext>
            </a:extLst>
          </p:cNvPr>
          <p:cNvSpPr/>
          <p:nvPr/>
        </p:nvSpPr>
        <p:spPr>
          <a:xfrm>
            <a:off x="457200" y="522902"/>
            <a:ext cx="5301916" cy="646331"/>
          </a:xfrm>
          <a:prstGeom prst="roundRect">
            <a:avLst>
              <a:gd name="adj" fmla="val 16000"/>
            </a:avLst>
          </a:prstGeom>
          <a:solidFill>
            <a:srgbClr val="065A82"/>
          </a:solidFill>
          <a:ln/>
        </p:spPr>
      </p:sp>
      <p:sp>
        <p:nvSpPr>
          <p:cNvPr id="17" name="Text 5">
            <a:extLst>
              <a:ext uri="{FF2B5EF4-FFF2-40B4-BE49-F238E27FC236}">
                <a16:creationId xmlns:a16="http://schemas.microsoft.com/office/drawing/2014/main" id="{001D0F0B-1D89-2B23-F6FA-B13D0F57D773}"/>
              </a:ext>
            </a:extLst>
          </p:cNvPr>
          <p:cNvSpPr/>
          <p:nvPr/>
        </p:nvSpPr>
        <p:spPr>
          <a:xfrm>
            <a:off x="457200" y="1274303"/>
            <a:ext cx="5303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9" name="Text 5">
            <a:extLst>
              <a:ext uri="{FF2B5EF4-FFF2-40B4-BE49-F238E27FC236}">
                <a16:creationId xmlns:a16="http://schemas.microsoft.com/office/drawing/2014/main" id="{3FC06B5B-C0CD-9FE3-2DF2-706A78EF9023}"/>
              </a:ext>
            </a:extLst>
          </p:cNvPr>
          <p:cNvSpPr/>
          <p:nvPr/>
        </p:nvSpPr>
        <p:spPr>
          <a:xfrm>
            <a:off x="609600" y="1426703"/>
            <a:ext cx="5303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21" name="Text 5">
            <a:extLst>
              <a:ext uri="{FF2B5EF4-FFF2-40B4-BE49-F238E27FC236}">
                <a16:creationId xmlns:a16="http://schemas.microsoft.com/office/drawing/2014/main" id="{27226F0E-A042-A49F-4A26-2004681DC6A8}"/>
              </a:ext>
            </a:extLst>
          </p:cNvPr>
          <p:cNvSpPr/>
          <p:nvPr/>
        </p:nvSpPr>
        <p:spPr>
          <a:xfrm>
            <a:off x="457200" y="1579103"/>
            <a:ext cx="835152" cy="69637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23" name="Text 5">
            <a:extLst>
              <a:ext uri="{FF2B5EF4-FFF2-40B4-BE49-F238E27FC236}">
                <a16:creationId xmlns:a16="http://schemas.microsoft.com/office/drawing/2014/main" id="{F7A3B578-A3A7-389E-64DA-FF151D6430EA}"/>
              </a:ext>
            </a:extLst>
          </p:cNvPr>
          <p:cNvSpPr/>
          <p:nvPr/>
        </p:nvSpPr>
        <p:spPr>
          <a:xfrm>
            <a:off x="424313" y="590492"/>
            <a:ext cx="5638799" cy="4323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endParaRPr lang="en-US" sz="3600" b="1" dirty="0">
              <a:solidFill>
                <a:schemeClr val="bg1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algn="ctr"/>
            <a:r>
              <a:rPr lang="en-US" sz="3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I2C LCD (16×2)</a:t>
            </a:r>
            <a:endParaRPr lang="en-US" sz="3600" dirty="0">
              <a:solidFill>
                <a:schemeClr val="bg1"/>
              </a:solidFill>
            </a:endParaRPr>
          </a:p>
          <a:p>
            <a:pPr marL="0" indent="0" algn="ctr">
              <a:buNone/>
            </a:pPr>
            <a:endParaRPr lang="en-US" sz="3600" dirty="0">
              <a:solidFill>
                <a:schemeClr val="bg1"/>
              </a:solidFill>
            </a:endParaRPr>
          </a:p>
        </p:txBody>
      </p:sp>
      <p:sp>
        <p:nvSpPr>
          <p:cNvPr id="25" name="Shape 3">
            <a:extLst>
              <a:ext uri="{FF2B5EF4-FFF2-40B4-BE49-F238E27FC236}">
                <a16:creationId xmlns:a16="http://schemas.microsoft.com/office/drawing/2014/main" id="{57098488-8848-0F7A-E62C-FFC960F01839}"/>
              </a:ext>
            </a:extLst>
          </p:cNvPr>
          <p:cNvSpPr/>
          <p:nvPr/>
        </p:nvSpPr>
        <p:spPr>
          <a:xfrm>
            <a:off x="6499044" y="516575"/>
            <a:ext cx="5045255" cy="625830"/>
          </a:xfrm>
          <a:prstGeom prst="roundRect">
            <a:avLst>
              <a:gd name="adj" fmla="val 16000"/>
            </a:avLst>
          </a:prstGeom>
          <a:solidFill>
            <a:srgbClr val="065A82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27" name="Text 5">
            <a:extLst>
              <a:ext uri="{FF2B5EF4-FFF2-40B4-BE49-F238E27FC236}">
                <a16:creationId xmlns:a16="http://schemas.microsoft.com/office/drawing/2014/main" id="{30C9323E-C6A1-68B1-FB89-97C697A2B881}"/>
              </a:ext>
            </a:extLst>
          </p:cNvPr>
          <p:cNvSpPr/>
          <p:nvPr/>
        </p:nvSpPr>
        <p:spPr>
          <a:xfrm flipH="1">
            <a:off x="6670304" y="668764"/>
            <a:ext cx="4873995" cy="3541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endParaRPr lang="en-US" sz="3200" b="1" dirty="0">
              <a:solidFill>
                <a:schemeClr val="bg1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algn="ctr"/>
            <a:endParaRPr lang="en-US" sz="3200" b="1" dirty="0">
              <a:solidFill>
                <a:schemeClr val="bg1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algn="ctr"/>
            <a:r>
              <a:rPr lang="en-US" sz="3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Breadboard &amp; Jumper Wires</a:t>
            </a:r>
            <a:endParaRPr lang="en-US" sz="3200" dirty="0">
              <a:solidFill>
                <a:schemeClr val="bg1"/>
              </a:solidFill>
            </a:endParaRPr>
          </a:p>
          <a:p>
            <a:pPr marL="0" indent="0" algn="ctr">
              <a:buNone/>
            </a:pPr>
            <a:endParaRPr lang="en-US" sz="4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6794578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22">
            <a:extLst>
              <a:ext uri="{FF2B5EF4-FFF2-40B4-BE49-F238E27FC236}">
                <a16:creationId xmlns:a16="http://schemas.microsoft.com/office/drawing/2014/main" id="{F2298051-7ADC-9D40-AA63-8F7080B34DE1}"/>
              </a:ext>
            </a:extLst>
          </p:cNvPr>
          <p:cNvSpPr/>
          <p:nvPr/>
        </p:nvSpPr>
        <p:spPr>
          <a:xfrm>
            <a:off x="264160" y="330632"/>
            <a:ext cx="11348720" cy="6177280"/>
          </a:xfrm>
          <a:prstGeom prst="roundRect">
            <a:avLst>
              <a:gd name="adj" fmla="val 1553"/>
            </a:avLst>
          </a:prstGeom>
          <a:solidFill>
            <a:srgbClr val="21295C"/>
          </a:solidFill>
          <a:ln/>
        </p:spPr>
      </p:sp>
      <p:sp>
        <p:nvSpPr>
          <p:cNvPr id="7" name="Text 23">
            <a:extLst>
              <a:ext uri="{FF2B5EF4-FFF2-40B4-BE49-F238E27FC236}">
                <a16:creationId xmlns:a16="http://schemas.microsoft.com/office/drawing/2014/main" id="{1E2868E5-8257-3F2D-A7A0-0B187DBCF675}"/>
              </a:ext>
            </a:extLst>
          </p:cNvPr>
          <p:cNvSpPr/>
          <p:nvPr/>
        </p:nvSpPr>
        <p:spPr>
          <a:xfrm>
            <a:off x="817880" y="619762"/>
            <a:ext cx="4572000" cy="6309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kern="0" spc="200" dirty="0">
                <a:solidFill>
                  <a:srgbClr val="5CC8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&amp; TOOLS</a:t>
            </a:r>
            <a:endParaRPr lang="en-US" sz="2800" dirty="0"/>
          </a:p>
        </p:txBody>
      </p:sp>
      <p:sp>
        <p:nvSpPr>
          <p:cNvPr id="9" name="Text 25">
            <a:extLst>
              <a:ext uri="{FF2B5EF4-FFF2-40B4-BE49-F238E27FC236}">
                <a16:creationId xmlns:a16="http://schemas.microsoft.com/office/drawing/2014/main" id="{2B373223-BD4D-8EC6-6348-A883F43C1665}"/>
              </a:ext>
            </a:extLst>
          </p:cNvPr>
          <p:cNvSpPr/>
          <p:nvPr/>
        </p:nvSpPr>
        <p:spPr>
          <a:xfrm>
            <a:off x="899160" y="1530099"/>
            <a:ext cx="4663440" cy="6309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Arduino Core for ESP32 (C/C++)</a:t>
            </a:r>
            <a:b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dirty="0">
                <a:solidFill>
                  <a:srgbClr val="C7D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Wi-Fi, web server, GPIO, sensor firmware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11" name="Text 28">
            <a:extLst>
              <a:ext uri="{FF2B5EF4-FFF2-40B4-BE49-F238E27FC236}">
                <a16:creationId xmlns:a16="http://schemas.microsoft.com/office/drawing/2014/main" id="{CD5A5FD0-D063-79BA-B16F-9FB24E21AEF4}"/>
              </a:ext>
            </a:extLst>
          </p:cNvPr>
          <p:cNvSpPr/>
          <p:nvPr/>
        </p:nvSpPr>
        <p:spPr>
          <a:xfrm>
            <a:off x="899160" y="2340864"/>
            <a:ext cx="4663440" cy="500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HTML5 + CSS3</a:t>
            </a:r>
            <a:b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dirty="0">
                <a:solidFill>
                  <a:srgbClr val="C7D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structure &amp; styling, served by ESP32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13" name="Text 31">
            <a:extLst>
              <a:ext uri="{FF2B5EF4-FFF2-40B4-BE49-F238E27FC236}">
                <a16:creationId xmlns:a16="http://schemas.microsoft.com/office/drawing/2014/main" id="{C2CFE47F-A085-4081-D88A-B376C8D9F183}"/>
              </a:ext>
            </a:extLst>
          </p:cNvPr>
          <p:cNvSpPr/>
          <p:nvPr/>
        </p:nvSpPr>
        <p:spPr>
          <a:xfrm>
            <a:off x="899160" y="3010405"/>
            <a:ext cx="4663440" cy="500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ESPAsyncWebServer</a:t>
            </a: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Library</a:t>
            </a:r>
            <a:b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dirty="0">
                <a:solidFill>
                  <a:srgbClr val="C7D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Routes HTTP requests to relay/sensor handlers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15" name="Text 34">
            <a:extLst>
              <a:ext uri="{FF2B5EF4-FFF2-40B4-BE49-F238E27FC236}">
                <a16:creationId xmlns:a16="http://schemas.microsoft.com/office/drawing/2014/main" id="{24ECFFF5-443C-51E9-44EC-E7310648F206}"/>
              </a:ext>
            </a:extLst>
          </p:cNvPr>
          <p:cNvSpPr/>
          <p:nvPr/>
        </p:nvSpPr>
        <p:spPr>
          <a:xfrm>
            <a:off x="899160" y="3847595"/>
            <a:ext cx="4663440" cy="500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Adafruit DHT Sensor Library</a:t>
            </a:r>
            <a:b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dirty="0">
                <a:solidFill>
                  <a:srgbClr val="C7D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DHT22 &amp; drives auto-fan logic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17" name="Text 37">
            <a:extLst>
              <a:ext uri="{FF2B5EF4-FFF2-40B4-BE49-F238E27FC236}">
                <a16:creationId xmlns:a16="http://schemas.microsoft.com/office/drawing/2014/main" id="{5E03A174-7A47-C6AA-0344-310AC6E10F44}"/>
              </a:ext>
            </a:extLst>
          </p:cNvPr>
          <p:cNvSpPr/>
          <p:nvPr/>
        </p:nvSpPr>
        <p:spPr>
          <a:xfrm>
            <a:off x="899160" y="4608070"/>
            <a:ext cx="4663440" cy="500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Xtensa GCC Toolchain</a:t>
            </a:r>
            <a:b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dirty="0">
                <a:solidFill>
                  <a:srgbClr val="C7D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Cross-compiles firmware for ESP32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19" name="Text 40">
            <a:extLst>
              <a:ext uri="{FF2B5EF4-FFF2-40B4-BE49-F238E27FC236}">
                <a16:creationId xmlns:a16="http://schemas.microsoft.com/office/drawing/2014/main" id="{659B12B3-A5C3-2612-EBC6-C747C3C2B045}"/>
              </a:ext>
            </a:extLst>
          </p:cNvPr>
          <p:cNvSpPr/>
          <p:nvPr/>
        </p:nvSpPr>
        <p:spPr>
          <a:xfrm>
            <a:off x="899160" y="5368545"/>
            <a:ext cx="4663440" cy="639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Arduino IDE / PlatformIO + </a:t>
            </a:r>
            <a:r>
              <a:rPr lang="en-US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esptool</a:t>
            </a:r>
            <a:b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dirty="0">
                <a:solidFill>
                  <a:srgbClr val="C7D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Build, flash &amp; serial debug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145669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 BUILD PROCESS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Methodology &amp; Implementation Steps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2084832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E1E7E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335024" y="1764792"/>
            <a:ext cx="512064" cy="512064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6" name="Text 4"/>
          <p:cNvSpPr/>
          <p:nvPr/>
        </p:nvSpPr>
        <p:spPr>
          <a:xfrm>
            <a:off x="1335024" y="1764792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40080" y="2377440"/>
            <a:ext cx="190195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</a:t>
            </a:r>
            <a:endParaRPr lang="en-US" sz="14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633472" y="2400300"/>
            <a:ext cx="137160" cy="0"/>
          </a:xfrm>
          <a:prstGeom prst="line">
            <a:avLst/>
          </a:prstGeom>
          <a:noFill/>
          <a:ln w="22225">
            <a:solidFill>
              <a:srgbClr val="B7C1CC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2770632" y="1600200"/>
            <a:ext cx="2084832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E1E7E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557016" y="1764792"/>
            <a:ext cx="512064" cy="51206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1" name="Text 9"/>
          <p:cNvSpPr/>
          <p:nvPr/>
        </p:nvSpPr>
        <p:spPr>
          <a:xfrm>
            <a:off x="3557016" y="1764792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2862072" y="2377440"/>
            <a:ext cx="190195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</a:t>
            </a:r>
            <a:endParaRPr lang="en-US" sz="14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Selection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855464" y="2400300"/>
            <a:ext cx="137160" cy="0"/>
          </a:xfrm>
          <a:prstGeom prst="line">
            <a:avLst/>
          </a:prstGeom>
          <a:noFill/>
          <a:ln w="22225">
            <a:solidFill>
              <a:srgbClr val="B7C1CC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4992624" y="1600200"/>
            <a:ext cx="2084832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E1E7E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779008" y="1764792"/>
            <a:ext cx="512064" cy="512064"/>
          </a:xfrm>
          <a:prstGeom prst="ellipse">
            <a:avLst/>
          </a:prstGeom>
          <a:solidFill>
            <a:srgbClr val="21295C"/>
          </a:solidFill>
          <a:ln/>
        </p:spPr>
      </p:sp>
      <p:sp>
        <p:nvSpPr>
          <p:cNvPr id="16" name="Text 14"/>
          <p:cNvSpPr/>
          <p:nvPr/>
        </p:nvSpPr>
        <p:spPr>
          <a:xfrm>
            <a:off x="5779008" y="1764792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5084064" y="2377440"/>
            <a:ext cx="190195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Circuit</a:t>
            </a:r>
            <a:endParaRPr lang="en-US" sz="14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7077456" y="2400300"/>
            <a:ext cx="137160" cy="0"/>
          </a:xfrm>
          <a:prstGeom prst="line">
            <a:avLst/>
          </a:prstGeom>
          <a:noFill/>
          <a:ln w="22225">
            <a:solidFill>
              <a:srgbClr val="B7C1CC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7214616" y="1600200"/>
            <a:ext cx="2084832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E1E7E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001000" y="1764792"/>
            <a:ext cx="512064" cy="512064"/>
          </a:xfrm>
          <a:prstGeom prst="ellipse">
            <a:avLst/>
          </a:prstGeom>
          <a:solidFill>
            <a:srgbClr val="3B7A93"/>
          </a:solidFill>
          <a:ln/>
        </p:spPr>
      </p:sp>
      <p:sp>
        <p:nvSpPr>
          <p:cNvPr id="21" name="Text 19"/>
          <p:cNvSpPr/>
          <p:nvPr/>
        </p:nvSpPr>
        <p:spPr>
          <a:xfrm>
            <a:off x="8001000" y="1764792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7306056" y="2377440"/>
            <a:ext cx="190195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Server</a:t>
            </a:r>
            <a:endParaRPr lang="en-US" sz="14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Firmware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9299448" y="2400300"/>
            <a:ext cx="137160" cy="0"/>
          </a:xfrm>
          <a:prstGeom prst="line">
            <a:avLst/>
          </a:prstGeom>
          <a:noFill/>
          <a:ln w="22225">
            <a:solidFill>
              <a:srgbClr val="B7C1CC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9436608" y="1600200"/>
            <a:ext cx="2084832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E1E7E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0222992" y="1764792"/>
            <a:ext cx="512064" cy="51206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6" name="Text 24"/>
          <p:cNvSpPr/>
          <p:nvPr/>
        </p:nvSpPr>
        <p:spPr>
          <a:xfrm>
            <a:off x="10222992" y="1764792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9528048" y="2377440"/>
            <a:ext cx="190195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GPIO &amp; Relay</a:t>
            </a:r>
            <a:endParaRPr lang="en-US" sz="14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Firmware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548640" y="3657600"/>
            <a:ext cx="2084832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E1E7EE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335024" y="3822192"/>
            <a:ext cx="512064" cy="512064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30" name="Text 28"/>
          <p:cNvSpPr/>
          <p:nvPr/>
        </p:nvSpPr>
        <p:spPr>
          <a:xfrm>
            <a:off x="1335024" y="3822192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700" dirty="0"/>
          </a:p>
        </p:txBody>
      </p:sp>
      <p:sp>
        <p:nvSpPr>
          <p:cNvPr id="31" name="Text 29"/>
          <p:cNvSpPr/>
          <p:nvPr/>
        </p:nvSpPr>
        <p:spPr>
          <a:xfrm>
            <a:off x="640080" y="4434840"/>
            <a:ext cx="190195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</a:t>
            </a:r>
            <a:endParaRPr lang="en-US" sz="14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2633472" y="4457700"/>
            <a:ext cx="137160" cy="0"/>
          </a:xfrm>
          <a:prstGeom prst="line">
            <a:avLst/>
          </a:prstGeom>
          <a:noFill/>
          <a:ln w="22225">
            <a:solidFill>
              <a:srgbClr val="B7C1CC"/>
            </a:solidFill>
            <a:prstDash val="solid"/>
            <a:tailEnd type="triangle"/>
          </a:ln>
        </p:spPr>
      </p:sp>
      <p:sp>
        <p:nvSpPr>
          <p:cNvPr id="33" name="Shape 31"/>
          <p:cNvSpPr/>
          <p:nvPr/>
        </p:nvSpPr>
        <p:spPr>
          <a:xfrm>
            <a:off x="2770632" y="3657600"/>
            <a:ext cx="2084832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E1E7EE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557016" y="3822192"/>
            <a:ext cx="512064" cy="51206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5" name="Text 33"/>
          <p:cNvSpPr/>
          <p:nvPr/>
        </p:nvSpPr>
        <p:spPr>
          <a:xfrm>
            <a:off x="3557016" y="3822192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700" dirty="0"/>
          </a:p>
        </p:txBody>
      </p:sp>
      <p:sp>
        <p:nvSpPr>
          <p:cNvPr id="36" name="Text 34"/>
          <p:cNvSpPr/>
          <p:nvPr/>
        </p:nvSpPr>
        <p:spPr>
          <a:xfrm>
            <a:off x="2862072" y="4434840"/>
            <a:ext cx="190195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4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(HTML/CSS)</a:t>
            </a: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>
            <a:off x="4855464" y="4457700"/>
            <a:ext cx="137160" cy="0"/>
          </a:xfrm>
          <a:prstGeom prst="line">
            <a:avLst/>
          </a:prstGeom>
          <a:noFill/>
          <a:ln w="22225">
            <a:solidFill>
              <a:srgbClr val="B7C1CC"/>
            </a:solidFill>
            <a:prstDash val="solid"/>
            <a:tailEnd type="triangle"/>
          </a:ln>
        </p:spPr>
      </p:sp>
      <p:sp>
        <p:nvSpPr>
          <p:cNvPr id="38" name="Shape 36"/>
          <p:cNvSpPr/>
          <p:nvPr/>
        </p:nvSpPr>
        <p:spPr>
          <a:xfrm>
            <a:off x="4992624" y="3657600"/>
            <a:ext cx="2084832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E1E7EE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5779008" y="3822192"/>
            <a:ext cx="512064" cy="512064"/>
          </a:xfrm>
          <a:prstGeom prst="ellipse">
            <a:avLst/>
          </a:prstGeom>
          <a:solidFill>
            <a:srgbClr val="21295C"/>
          </a:solidFill>
          <a:ln/>
        </p:spPr>
      </p:sp>
      <p:sp>
        <p:nvSpPr>
          <p:cNvPr id="40" name="Text 38"/>
          <p:cNvSpPr/>
          <p:nvPr/>
        </p:nvSpPr>
        <p:spPr>
          <a:xfrm>
            <a:off x="5779008" y="3822192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700" dirty="0"/>
          </a:p>
        </p:txBody>
      </p:sp>
      <p:sp>
        <p:nvSpPr>
          <p:cNvPr id="41" name="Text 39"/>
          <p:cNvSpPr/>
          <p:nvPr/>
        </p:nvSpPr>
        <p:spPr>
          <a:xfrm>
            <a:off x="5084064" y="4434840"/>
            <a:ext cx="190195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&amp;</a:t>
            </a:r>
            <a:endParaRPr lang="en-US" sz="14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Test</a:t>
            </a:r>
            <a:endParaRPr lang="en-US" sz="1400" dirty="0"/>
          </a:p>
        </p:txBody>
      </p:sp>
      <p:sp>
        <p:nvSpPr>
          <p:cNvPr id="42" name="Shape 40"/>
          <p:cNvSpPr/>
          <p:nvPr/>
        </p:nvSpPr>
        <p:spPr>
          <a:xfrm>
            <a:off x="7077456" y="4457700"/>
            <a:ext cx="137160" cy="0"/>
          </a:xfrm>
          <a:prstGeom prst="line">
            <a:avLst/>
          </a:prstGeom>
          <a:noFill/>
          <a:ln w="22225">
            <a:solidFill>
              <a:srgbClr val="B7C1CC"/>
            </a:solidFill>
            <a:prstDash val="solid"/>
            <a:tailEnd type="triangle"/>
          </a:ln>
        </p:spPr>
      </p:sp>
      <p:sp>
        <p:nvSpPr>
          <p:cNvPr id="43" name="Shape 41"/>
          <p:cNvSpPr/>
          <p:nvPr/>
        </p:nvSpPr>
        <p:spPr>
          <a:xfrm>
            <a:off x="7214616" y="3657600"/>
            <a:ext cx="2084832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E1E7EE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8001000" y="3822192"/>
            <a:ext cx="512064" cy="512064"/>
          </a:xfrm>
          <a:prstGeom prst="ellipse">
            <a:avLst/>
          </a:prstGeom>
          <a:solidFill>
            <a:srgbClr val="3B7A93"/>
          </a:solidFill>
          <a:ln/>
        </p:spPr>
      </p:sp>
      <p:sp>
        <p:nvSpPr>
          <p:cNvPr id="45" name="Text 43"/>
          <p:cNvSpPr/>
          <p:nvPr/>
        </p:nvSpPr>
        <p:spPr>
          <a:xfrm>
            <a:off x="8001000" y="3822192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700" dirty="0"/>
          </a:p>
        </p:txBody>
      </p:sp>
      <p:sp>
        <p:nvSpPr>
          <p:cNvPr id="46" name="Text 44"/>
          <p:cNvSpPr/>
          <p:nvPr/>
        </p:nvSpPr>
        <p:spPr>
          <a:xfrm>
            <a:off x="7306056" y="4434840"/>
            <a:ext cx="190195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Debugging &amp;</a:t>
            </a:r>
            <a:endParaRPr lang="en-US" sz="14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Optimization</a:t>
            </a:r>
            <a:endParaRPr lang="en-US" sz="1400" dirty="0"/>
          </a:p>
        </p:txBody>
      </p:sp>
      <p:sp>
        <p:nvSpPr>
          <p:cNvPr id="47" name="Shape 45"/>
          <p:cNvSpPr/>
          <p:nvPr/>
        </p:nvSpPr>
        <p:spPr>
          <a:xfrm>
            <a:off x="9299448" y="4457700"/>
            <a:ext cx="137160" cy="0"/>
          </a:xfrm>
          <a:prstGeom prst="line">
            <a:avLst/>
          </a:prstGeom>
          <a:noFill/>
          <a:ln w="22225">
            <a:solidFill>
              <a:srgbClr val="B7C1CC"/>
            </a:solidFill>
            <a:prstDash val="solid"/>
            <a:tailEnd type="triangle"/>
          </a:ln>
        </p:spPr>
      </p:sp>
      <p:sp>
        <p:nvSpPr>
          <p:cNvPr id="48" name="Shape 46"/>
          <p:cNvSpPr/>
          <p:nvPr/>
        </p:nvSpPr>
        <p:spPr>
          <a:xfrm>
            <a:off x="9436608" y="3657600"/>
            <a:ext cx="2084832" cy="1600200"/>
          </a:xfrm>
          <a:prstGeom prst="roundRect">
            <a:avLst>
              <a:gd name="adj" fmla="val 4571"/>
            </a:avLst>
          </a:prstGeom>
          <a:solidFill>
            <a:srgbClr val="EDE3C8"/>
          </a:solidFill>
          <a:ln w="19050">
            <a:solidFill>
              <a:srgbClr val="E0A93B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10222992" y="3822192"/>
            <a:ext cx="512064" cy="51206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50" name="Text 48"/>
          <p:cNvSpPr/>
          <p:nvPr/>
        </p:nvSpPr>
        <p:spPr>
          <a:xfrm>
            <a:off x="10222992" y="3822192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700" dirty="0"/>
          </a:p>
        </p:txBody>
      </p:sp>
      <p:sp>
        <p:nvSpPr>
          <p:cNvPr id="51" name="Text 49"/>
          <p:cNvSpPr/>
          <p:nvPr/>
        </p:nvSpPr>
        <p:spPr>
          <a:xfrm>
            <a:off x="9528048" y="4434840"/>
            <a:ext cx="190195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8A64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Module</a:t>
            </a:r>
            <a:endParaRPr lang="en-US" sz="14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8A64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(Future Phase)</a:t>
            </a:r>
            <a:endParaRPr lang="en-US" sz="1400" dirty="0"/>
          </a:p>
        </p:txBody>
      </p:sp>
      <p:sp>
        <p:nvSpPr>
          <p:cNvPr id="52" name="Text 50"/>
          <p:cNvSpPr/>
          <p:nvPr/>
        </p:nvSpPr>
        <p:spPr>
          <a:xfrm>
            <a:off x="502920" y="573786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Firmware developed in Embedded C/C++ using the Arduino core for ESP32; each phase was verified before moving to the next, catching issues such as GPIO mapping errors and Wi-Fi reconnect bugs early.</a:t>
            </a:r>
            <a:endParaRPr lang="en-US" sz="1150" dirty="0"/>
          </a:p>
        </p:txBody>
      </p:sp>
      <p:sp>
        <p:nvSpPr>
          <p:cNvPr id="53" name="Text 51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 Based Home Automation System  |  Kathmandu University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 CAPABILITIES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Core Features &amp; Functionalities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7159593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E1E7E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819656"/>
            <a:ext cx="530352" cy="530352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819656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434324" y="1691640"/>
            <a:ext cx="23997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Remote Appliance Control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930315" y="1691640"/>
            <a:ext cx="3777917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ct val="115000"/>
              </a:lnSpc>
            </a:pPr>
            <a:r>
              <a:rPr lang="en-US" sz="1400" dirty="0"/>
              <a:t>Control 4 devices (light, fan, multiplug, and socket) from any browser using the same Wi-Fi network.</a:t>
            </a:r>
          </a:p>
        </p:txBody>
      </p:sp>
      <p:sp>
        <p:nvSpPr>
          <p:cNvPr id="9" name="Shape 7"/>
          <p:cNvSpPr/>
          <p:nvPr/>
        </p:nvSpPr>
        <p:spPr>
          <a:xfrm>
            <a:off x="548641" y="2844168"/>
            <a:ext cx="7159592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E1E7E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77240" y="3063624"/>
            <a:ext cx="530352" cy="53035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3063624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508760" y="2935608"/>
            <a:ext cx="2926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Automatic Fan Control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930316" y="2935608"/>
            <a:ext cx="3931919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ct val="115000"/>
              </a:lnSpc>
            </a:pPr>
            <a:r>
              <a:rPr lang="en-US" sz="1400" dirty="0"/>
              <a:t>Monitor temperature and humidity with a DHT22 sensor and automate the fan’s operation.</a:t>
            </a:r>
          </a:p>
        </p:txBody>
      </p:sp>
      <p:sp>
        <p:nvSpPr>
          <p:cNvPr id="14" name="Shape 12"/>
          <p:cNvSpPr/>
          <p:nvPr/>
        </p:nvSpPr>
        <p:spPr>
          <a:xfrm>
            <a:off x="548640" y="4088136"/>
            <a:ext cx="7159593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E1E7E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77240" y="4307592"/>
            <a:ext cx="530352" cy="530352"/>
          </a:xfrm>
          <a:prstGeom prst="ellipse">
            <a:avLst/>
          </a:prstGeom>
          <a:solidFill>
            <a:srgbClr val="21295C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4307592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508760" y="4179576"/>
            <a:ext cx="2926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Web Dashboard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930316" y="4179576"/>
            <a:ext cx="3842084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ct val="115000"/>
              </a:lnSpc>
            </a:pPr>
            <a:r>
              <a:rPr lang="en-US" sz="1400" dirty="0"/>
              <a:t>View live data from the sensors, ON/OF status of the appliances, and change the temperature threshold in one web dashboard.</a:t>
            </a:r>
          </a:p>
        </p:txBody>
      </p:sp>
      <p:sp>
        <p:nvSpPr>
          <p:cNvPr id="19" name="Shape 17"/>
          <p:cNvSpPr/>
          <p:nvPr/>
        </p:nvSpPr>
        <p:spPr>
          <a:xfrm>
            <a:off x="548640" y="5332104"/>
            <a:ext cx="7159593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E1E7E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77240" y="5551560"/>
            <a:ext cx="530352" cy="530352"/>
          </a:xfrm>
          <a:prstGeom prst="ellipse">
            <a:avLst/>
          </a:prstGeom>
          <a:solidFill>
            <a:srgbClr val="3B7A93"/>
          </a:solidFill>
          <a:ln/>
        </p:spPr>
      </p:sp>
      <p:sp>
        <p:nvSpPr>
          <p:cNvPr id="21" name="Text 19"/>
          <p:cNvSpPr/>
          <p:nvPr/>
        </p:nvSpPr>
        <p:spPr>
          <a:xfrm>
            <a:off x="777240" y="5551560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508760" y="5423544"/>
            <a:ext cx="2926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Fully Self-Hosted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930314" y="5423544"/>
            <a:ext cx="3713749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ct val="115000"/>
              </a:lnSpc>
            </a:pPr>
            <a:r>
              <a:rPr lang="en-US" sz="1400" dirty="0"/>
              <a:t>Operate all the systems on the ESP32 without using any cloud services or external applications.</a:t>
            </a:r>
          </a:p>
        </p:txBody>
      </p:sp>
      <p:sp>
        <p:nvSpPr>
          <p:cNvPr id="24" name="Shape 22"/>
          <p:cNvSpPr/>
          <p:nvPr/>
        </p:nvSpPr>
        <p:spPr>
          <a:xfrm>
            <a:off x="7772400" y="1171074"/>
            <a:ext cx="4223885" cy="5042274"/>
          </a:xfrm>
          <a:prstGeom prst="roundRect">
            <a:avLst>
              <a:gd name="adj" fmla="val 2254"/>
            </a:avLst>
          </a:prstGeom>
          <a:solidFill>
            <a:srgbClr val="21295C"/>
          </a:solidFill>
          <a:ln/>
        </p:spPr>
      </p:sp>
      <p:sp>
        <p:nvSpPr>
          <p:cNvPr id="25" name="Text 23"/>
          <p:cNvSpPr/>
          <p:nvPr/>
        </p:nvSpPr>
        <p:spPr>
          <a:xfrm>
            <a:off x="8446170" y="1263556"/>
            <a:ext cx="2967789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kern="0" spc="80" dirty="0">
                <a:solidFill>
                  <a:srgbClr val="5CC8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HOME PORTAL — LIVE UI</a:t>
            </a:r>
            <a:endParaRPr lang="en-US" sz="1400" dirty="0"/>
          </a:p>
        </p:txBody>
      </p:sp>
      <p:pic>
        <p:nvPicPr>
          <p:cNvPr id="26" name="Image 0" descr="/home/claude/pptx_work/report_images/dashboard_ui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909401" y="1766475"/>
            <a:ext cx="3921651" cy="3325049"/>
          </a:xfrm>
          <a:prstGeom prst="rect">
            <a:avLst/>
          </a:prstGeom>
        </p:spPr>
      </p:pic>
      <p:sp>
        <p:nvSpPr>
          <p:cNvPr id="27" name="Text 24"/>
          <p:cNvSpPr/>
          <p:nvPr/>
        </p:nvSpPr>
        <p:spPr>
          <a:xfrm>
            <a:off x="7845233" y="5038344"/>
            <a:ext cx="4151051" cy="10897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600" i="1" dirty="0">
                <a:solidFill>
                  <a:srgbClr val="C7D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 ESP32-hosted dashboard: live temperature/humidity, per-appliance status, and auto-mode threshold control.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 Based Home Automation System  |  Kathmandu University</a:t>
            </a:r>
            <a:endParaRPr lang="en-US" sz="1000" dirty="0"/>
          </a:p>
        </p:txBody>
      </p:sp>
      <p:sp>
        <p:nvSpPr>
          <p:cNvPr id="29" name="Text 26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 VALIDATION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Testing, Verification &amp; Results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264695" y="1163053"/>
            <a:ext cx="5743189" cy="5205663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E1E7E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0834" y="1259426"/>
            <a:ext cx="5471444" cy="429768"/>
          </a:xfrm>
          <a:prstGeom prst="roundRect">
            <a:avLst>
              <a:gd name="adj" fmla="val 16000"/>
            </a:avLst>
          </a:prstGeom>
          <a:solidFill>
            <a:srgbClr val="065A82"/>
          </a:solidFill>
          <a:ln/>
        </p:spPr>
      </p:sp>
      <p:sp>
        <p:nvSpPr>
          <p:cNvPr id="7" name="Text 5"/>
          <p:cNvSpPr/>
          <p:nvPr/>
        </p:nvSpPr>
        <p:spPr>
          <a:xfrm>
            <a:off x="457199" y="1274303"/>
            <a:ext cx="533075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endParaRPr lang="en-US" sz="2000" b="1" dirty="0">
              <a:solidFill>
                <a:schemeClr val="bg1"/>
              </a:solidFill>
              <a:latin typeface="Cambria" pitchFamily="34" charset="0"/>
              <a:ea typeface="Cambria" pitchFamily="34" charset="-122"/>
              <a:cs typeface="Cambria" pitchFamily="34" charset="-120"/>
            </a:endParaRPr>
          </a:p>
          <a:p>
            <a:r>
              <a:rPr lang="en-US" sz="2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                  Sensor Testing   </a:t>
            </a:r>
            <a:r>
              <a:rPr lang="en-US" sz="2000" b="1" i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DHT22</a:t>
            </a:r>
          </a:p>
          <a:p>
            <a:pPr marL="0" indent="0" algn="ctr">
              <a:buNone/>
            </a:pPr>
            <a:endParaRPr lang="en-US" sz="2000" dirty="0">
              <a:solidFill>
                <a:schemeClr val="bg1"/>
              </a:solidFill>
            </a:endParaRPr>
          </a:p>
        </p:txBody>
      </p:sp>
      <p:sp>
        <p:nvSpPr>
          <p:cNvPr id="8" name="Shape 6"/>
          <p:cNvSpPr/>
          <p:nvPr/>
        </p:nvSpPr>
        <p:spPr>
          <a:xfrm>
            <a:off x="640080" y="2103120"/>
            <a:ext cx="1901952" cy="1234440"/>
          </a:xfrm>
          <a:prstGeom prst="rect">
            <a:avLst/>
          </a:prstGeom>
          <a:solidFill>
            <a:srgbClr val="F0F3F6"/>
          </a:solidFill>
          <a:ln w="9525">
            <a:solidFill>
              <a:srgbClr val="E1E7EE"/>
            </a:solidFill>
            <a:prstDash val="solid"/>
          </a:ln>
        </p:spPr>
      </p:sp>
      <p:pic>
        <p:nvPicPr>
          <p:cNvPr id="9" name="Image 0" descr="/home/claude/pptx_work/report_images/unit_testing_relay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00567" y="1704070"/>
            <a:ext cx="5471444" cy="4497887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640080" y="3969138"/>
            <a:ext cx="19019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400" b="1" dirty="0"/>
          </a:p>
        </p:txBody>
      </p:sp>
      <p:sp>
        <p:nvSpPr>
          <p:cNvPr id="12" name="Text 9"/>
          <p:cNvSpPr/>
          <p:nvPr/>
        </p:nvSpPr>
        <p:spPr>
          <a:xfrm>
            <a:off x="6440426" y="4327438"/>
            <a:ext cx="1901952" cy="1874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8000"/>
              </a:lnSpc>
              <a:buNone/>
            </a:pP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6186250" y="1163053"/>
            <a:ext cx="5698238" cy="5213583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E1E7EE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279492" y="1252728"/>
            <a:ext cx="5501674" cy="457200"/>
          </a:xfrm>
          <a:prstGeom prst="roundRect">
            <a:avLst>
              <a:gd name="adj" fmla="val 16000"/>
            </a:avLst>
          </a:prstGeom>
          <a:solidFill>
            <a:srgbClr val="1C7293"/>
          </a:solidFill>
          <a:ln/>
        </p:spPr>
      </p:sp>
      <p:sp>
        <p:nvSpPr>
          <p:cNvPr id="16" name="Text 13"/>
          <p:cNvSpPr/>
          <p:nvPr/>
        </p:nvSpPr>
        <p:spPr>
          <a:xfrm>
            <a:off x="8377989" y="235000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pic>
        <p:nvPicPr>
          <p:cNvPr id="18" name="Image 1" descr="/home/claude/pptx_work/report_images/sensor_testing_dht22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298759" y="1727574"/>
            <a:ext cx="5463140" cy="4474383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2874264" y="3986784"/>
            <a:ext cx="19019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400" b="1" dirty="0"/>
          </a:p>
        </p:txBody>
      </p:sp>
      <p:sp>
        <p:nvSpPr>
          <p:cNvPr id="21" name="Text 17"/>
          <p:cNvSpPr/>
          <p:nvPr/>
        </p:nvSpPr>
        <p:spPr>
          <a:xfrm>
            <a:off x="2898648" y="3765644"/>
            <a:ext cx="1901952" cy="20956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8000"/>
              </a:lnSpc>
              <a:buNone/>
            </a:pPr>
            <a:endParaRPr lang="en-US" sz="1400" dirty="0"/>
          </a:p>
        </p:txBody>
      </p:sp>
      <p:sp>
        <p:nvSpPr>
          <p:cNvPr id="29" name="Text 24"/>
          <p:cNvSpPr/>
          <p:nvPr/>
        </p:nvSpPr>
        <p:spPr>
          <a:xfrm>
            <a:off x="5157216" y="3969138"/>
            <a:ext cx="19019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400" b="1" dirty="0"/>
          </a:p>
        </p:txBody>
      </p:sp>
      <p:sp>
        <p:nvSpPr>
          <p:cNvPr id="30" name="Text 25"/>
          <p:cNvSpPr/>
          <p:nvPr/>
        </p:nvSpPr>
        <p:spPr>
          <a:xfrm>
            <a:off x="5157216" y="3986784"/>
            <a:ext cx="1901952" cy="1874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8000"/>
              </a:lnSpc>
              <a:buNone/>
            </a:pPr>
            <a:endParaRPr lang="en-US" sz="1400" dirty="0"/>
          </a:p>
        </p:txBody>
      </p:sp>
      <p:sp>
        <p:nvSpPr>
          <p:cNvPr id="34" name="Text 29"/>
          <p:cNvSpPr/>
          <p:nvPr/>
        </p:nvSpPr>
        <p:spPr>
          <a:xfrm>
            <a:off x="6369477" y="1208774"/>
            <a:ext cx="5243403" cy="51029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endParaRPr lang="en-US" sz="2000" b="1" dirty="0">
              <a:solidFill>
                <a:schemeClr val="bg1"/>
              </a:solidFill>
              <a:latin typeface="Cambria" pitchFamily="34" charset="0"/>
              <a:ea typeface="Cambria" pitchFamily="34" charset="-122"/>
              <a:cs typeface="Cambria" pitchFamily="34" charset="-120"/>
            </a:endParaRPr>
          </a:p>
          <a:p>
            <a:pPr algn="ctr"/>
            <a:r>
              <a:rPr lang="en-US" sz="2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Network Testing  </a:t>
            </a:r>
            <a:r>
              <a:rPr lang="en-US" sz="2000" b="1" i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Wi-Fi</a:t>
            </a:r>
            <a:endParaRPr lang="en-US" sz="2000" b="1" dirty="0">
              <a:solidFill>
                <a:schemeClr val="bg1"/>
              </a:solidFill>
            </a:endParaRPr>
          </a:p>
          <a:p>
            <a:pPr marL="0" indent="0" algn="ctr">
              <a:buNone/>
            </a:pPr>
            <a:endParaRPr lang="en-US" sz="2000" dirty="0">
              <a:solidFill>
                <a:schemeClr val="bg1"/>
              </a:solidFill>
            </a:endParaRPr>
          </a:p>
        </p:txBody>
      </p:sp>
      <p:sp>
        <p:nvSpPr>
          <p:cNvPr id="38" name="Text 32"/>
          <p:cNvSpPr/>
          <p:nvPr/>
        </p:nvSpPr>
        <p:spPr>
          <a:xfrm>
            <a:off x="7415784" y="3977640"/>
            <a:ext cx="19019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400" b="1" dirty="0"/>
          </a:p>
        </p:txBody>
      </p:sp>
      <p:sp>
        <p:nvSpPr>
          <p:cNvPr id="39" name="Text 33"/>
          <p:cNvSpPr/>
          <p:nvPr/>
        </p:nvSpPr>
        <p:spPr>
          <a:xfrm>
            <a:off x="7415784" y="3986784"/>
            <a:ext cx="1901952" cy="1874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8000"/>
              </a:lnSpc>
              <a:buNone/>
            </a:pPr>
            <a:endParaRPr lang="en-US" sz="1400" dirty="0"/>
          </a:p>
        </p:txBody>
      </p:sp>
      <p:sp>
        <p:nvSpPr>
          <p:cNvPr id="47" name="Text 40"/>
          <p:cNvSpPr/>
          <p:nvPr/>
        </p:nvSpPr>
        <p:spPr>
          <a:xfrm>
            <a:off x="9649968" y="3986784"/>
            <a:ext cx="19019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400" b="1" dirty="0"/>
          </a:p>
        </p:txBody>
      </p:sp>
      <p:sp>
        <p:nvSpPr>
          <p:cNvPr id="50" name="Text 43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 Based Home Automation System  |  Kathmandu University</a:t>
            </a:r>
            <a:endParaRPr lang="en-US" sz="1000" dirty="0"/>
          </a:p>
        </p:txBody>
      </p:sp>
      <p:sp>
        <p:nvSpPr>
          <p:cNvPr id="51" name="Text 44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DESIGN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9241"/>
            <a:ext cx="2305879" cy="21166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2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Flow Diagram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170432"/>
            <a:ext cx="548640" cy="45720"/>
          </a:xfrm>
          <a:prstGeom prst="rect">
            <a:avLst/>
          </a:prstGeom>
          <a:solidFill>
            <a:srgbClr val="F2A93B"/>
          </a:solidFill>
          <a:ln/>
        </p:spPr>
      </p:sp>
      <p:sp>
        <p:nvSpPr>
          <p:cNvPr id="5" name="Shape 3"/>
          <p:cNvSpPr/>
          <p:nvPr/>
        </p:nvSpPr>
        <p:spPr>
          <a:xfrm>
            <a:off x="4807340" y="91440"/>
            <a:ext cx="6698555" cy="6606540"/>
          </a:xfrm>
          <a:prstGeom prst="roundRect">
            <a:avLst>
              <a:gd name="adj" fmla="val 1774"/>
            </a:avLst>
          </a:prstGeom>
          <a:solidFill>
            <a:srgbClr val="FFFFFF"/>
          </a:solidFill>
          <a:ln w="12700">
            <a:solidFill>
              <a:srgbClr val="D8DFE8"/>
            </a:solidFill>
            <a:prstDash val="solid"/>
          </a:ln>
          <a:effectLst>
            <a:outerShdw blurRad="127000" dist="38100" dir="5400000" algn="bl" rotWithShape="0">
              <a:srgbClr val="12233F">
                <a:alpha val="25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 Based Home Automation System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0F374723-C488-2672-176C-78D87EA9B98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12381"/>
          <a:stretch>
            <a:fillRect/>
          </a:stretch>
        </p:blipFill>
        <p:spPr>
          <a:xfrm>
            <a:off x="4857549" y="125730"/>
            <a:ext cx="6876946" cy="66065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215125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hape 10">
            <a:extLst>
              <a:ext uri="{FF2B5EF4-FFF2-40B4-BE49-F238E27FC236}">
                <a16:creationId xmlns:a16="http://schemas.microsoft.com/office/drawing/2014/main" id="{64846703-951C-4C33-3A35-5A4C11190A4A}"/>
              </a:ext>
            </a:extLst>
          </p:cNvPr>
          <p:cNvSpPr/>
          <p:nvPr/>
        </p:nvSpPr>
        <p:spPr>
          <a:xfrm>
            <a:off x="465220" y="216568"/>
            <a:ext cx="5306929" cy="632059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E1E7EE"/>
            </a:solidFill>
            <a:prstDash val="solid"/>
          </a:ln>
        </p:spPr>
      </p:sp>
      <p:sp>
        <p:nvSpPr>
          <p:cNvPr id="9" name="Shape 10">
            <a:extLst>
              <a:ext uri="{FF2B5EF4-FFF2-40B4-BE49-F238E27FC236}">
                <a16:creationId xmlns:a16="http://schemas.microsoft.com/office/drawing/2014/main" id="{2E71B0DF-7C7B-F151-C2BF-933FC0B2B3F2}"/>
              </a:ext>
            </a:extLst>
          </p:cNvPr>
          <p:cNvSpPr/>
          <p:nvPr/>
        </p:nvSpPr>
        <p:spPr>
          <a:xfrm>
            <a:off x="6096000" y="216566"/>
            <a:ext cx="5550567" cy="6320591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E1E7EE"/>
            </a:solidFill>
            <a:prstDash val="solid"/>
          </a:ln>
        </p:spPr>
      </p:sp>
      <p:sp>
        <p:nvSpPr>
          <p:cNvPr id="3" name="Shape 27">
            <a:extLst>
              <a:ext uri="{FF2B5EF4-FFF2-40B4-BE49-F238E27FC236}">
                <a16:creationId xmlns:a16="http://schemas.microsoft.com/office/drawing/2014/main" id="{0A4A6BA1-EC96-CB1B-4B95-D5BFC185F21A}"/>
              </a:ext>
            </a:extLst>
          </p:cNvPr>
          <p:cNvSpPr/>
          <p:nvPr/>
        </p:nvSpPr>
        <p:spPr>
          <a:xfrm>
            <a:off x="6186718" y="333476"/>
            <a:ext cx="5363597" cy="581966"/>
          </a:xfrm>
          <a:prstGeom prst="roundRect">
            <a:avLst>
              <a:gd name="adj" fmla="val 16000"/>
            </a:avLst>
          </a:prstGeom>
          <a:solidFill>
            <a:srgbClr val="3B7A93"/>
          </a:solidFill>
          <a:ln/>
        </p:spPr>
      </p:sp>
      <p:pic>
        <p:nvPicPr>
          <p:cNvPr id="5" name="Image 3" descr="/home/claude/pptx_work/report_images/dashboard_testing_web.png">
            <a:extLst>
              <a:ext uri="{FF2B5EF4-FFF2-40B4-BE49-F238E27FC236}">
                <a16:creationId xmlns:a16="http://schemas.microsoft.com/office/drawing/2014/main" id="{190C0300-671F-BB54-7BA9-C5110CC51DD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048"/>
          <a:stretch>
            <a:fillRect/>
          </a:stretch>
        </p:blipFill>
        <p:spPr>
          <a:xfrm>
            <a:off x="6186719" y="915441"/>
            <a:ext cx="5363597" cy="5413169"/>
          </a:xfrm>
          <a:prstGeom prst="rect">
            <a:avLst/>
          </a:prstGeom>
        </p:spPr>
      </p:pic>
      <p:sp>
        <p:nvSpPr>
          <p:cNvPr id="13" name="Shape 19">
            <a:extLst>
              <a:ext uri="{FF2B5EF4-FFF2-40B4-BE49-F238E27FC236}">
                <a16:creationId xmlns:a16="http://schemas.microsoft.com/office/drawing/2014/main" id="{8638BD61-8ACA-87E9-7F04-B53E6910FEF3}"/>
              </a:ext>
            </a:extLst>
          </p:cNvPr>
          <p:cNvSpPr/>
          <p:nvPr/>
        </p:nvSpPr>
        <p:spPr>
          <a:xfrm>
            <a:off x="545432" y="379588"/>
            <a:ext cx="4981073" cy="535853"/>
          </a:xfrm>
          <a:prstGeom prst="roundRect">
            <a:avLst>
              <a:gd name="adj" fmla="val 16000"/>
            </a:avLst>
          </a:prstGeom>
          <a:solidFill>
            <a:srgbClr val="21295C"/>
          </a:solidFill>
          <a:ln/>
        </p:spPr>
        <p:txBody>
          <a:bodyPr/>
          <a:lstStyle/>
          <a:p>
            <a:pPr algn="ctr"/>
            <a:r>
              <a:rPr lang="en-US" sz="2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Dashboard Testing </a:t>
            </a:r>
            <a:r>
              <a:rPr lang="en-US" sz="2800" b="1" i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UI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03BAEB5-A452-B621-400A-1544CE3C535E}"/>
              </a:ext>
            </a:extLst>
          </p:cNvPr>
          <p:cNvSpPr txBox="1"/>
          <p:nvPr/>
        </p:nvSpPr>
        <p:spPr>
          <a:xfrm>
            <a:off x="6096000" y="379589"/>
            <a:ext cx="545431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US" sz="2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Unit Testing </a:t>
            </a:r>
            <a:r>
              <a:rPr lang="en-US" sz="2800" b="1" i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Relay</a:t>
            </a:r>
          </a:p>
        </p:txBody>
      </p:sp>
      <p:pic>
        <p:nvPicPr>
          <p:cNvPr id="4" name="Image 0" descr="/mnt/user-data/outputs/media/dashboard.png">
            <a:extLst>
              <a:ext uri="{FF2B5EF4-FFF2-40B4-BE49-F238E27FC236}">
                <a16:creationId xmlns:a16="http://schemas.microsoft.com/office/drawing/2014/main" id="{8B99F9E7-A888-46E5-B279-8B8596F537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5433" y="940707"/>
            <a:ext cx="4981072" cy="53920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911638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Shape 10">
            <a:extLst>
              <a:ext uri="{FF2B5EF4-FFF2-40B4-BE49-F238E27FC236}">
                <a16:creationId xmlns:a16="http://schemas.microsoft.com/office/drawing/2014/main" id="{C9F2FD2E-7A89-B56C-0AE1-EC8C560BC4D3}"/>
              </a:ext>
            </a:extLst>
          </p:cNvPr>
          <p:cNvSpPr/>
          <p:nvPr/>
        </p:nvSpPr>
        <p:spPr>
          <a:xfrm>
            <a:off x="587338" y="281031"/>
            <a:ext cx="10217020" cy="6309831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E1E7EE"/>
            </a:solidFill>
            <a:prstDash val="solid"/>
          </a:ln>
        </p:spPr>
      </p:sp>
      <p:sp>
        <p:nvSpPr>
          <p:cNvPr id="3" name="Shape 35">
            <a:extLst>
              <a:ext uri="{FF2B5EF4-FFF2-40B4-BE49-F238E27FC236}">
                <a16:creationId xmlns:a16="http://schemas.microsoft.com/office/drawing/2014/main" id="{F9EA0C28-329F-AA13-1026-F4F05002F0E9}"/>
              </a:ext>
            </a:extLst>
          </p:cNvPr>
          <p:cNvSpPr/>
          <p:nvPr/>
        </p:nvSpPr>
        <p:spPr>
          <a:xfrm>
            <a:off x="723695" y="440950"/>
            <a:ext cx="9787374" cy="712672"/>
          </a:xfrm>
          <a:prstGeom prst="roundRect">
            <a:avLst>
              <a:gd name="adj" fmla="val 16000"/>
            </a:avLst>
          </a:prstGeom>
          <a:solidFill>
            <a:srgbClr val="1C7293"/>
          </a:solidFill>
          <a:ln/>
        </p:spPr>
      </p:sp>
      <p:pic>
        <p:nvPicPr>
          <p:cNvPr id="5" name="Image 4" descr="/home/claude/pptx_work/report_images/integration_testing.png">
            <a:extLst>
              <a:ext uri="{FF2B5EF4-FFF2-40B4-BE49-F238E27FC236}">
                <a16:creationId xmlns:a16="http://schemas.microsoft.com/office/drawing/2014/main" id="{E2D0980C-F7AC-D593-2C59-8780BA40A47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63"/>
          <a:stretch>
            <a:fillRect/>
          </a:stretch>
        </p:blipFill>
        <p:spPr>
          <a:xfrm>
            <a:off x="802161" y="1618775"/>
            <a:ext cx="9787374" cy="4972087"/>
          </a:xfrm>
          <a:prstGeom prst="rect">
            <a:avLst/>
          </a:prstGeom>
        </p:spPr>
      </p:pic>
      <p:sp>
        <p:nvSpPr>
          <p:cNvPr id="7" name="Text 39">
            <a:extLst>
              <a:ext uri="{FF2B5EF4-FFF2-40B4-BE49-F238E27FC236}">
                <a16:creationId xmlns:a16="http://schemas.microsoft.com/office/drawing/2014/main" id="{CD7A6239-B379-FCE4-1BDC-9A468CBC2855}"/>
              </a:ext>
            </a:extLst>
          </p:cNvPr>
          <p:cNvSpPr/>
          <p:nvPr/>
        </p:nvSpPr>
        <p:spPr>
          <a:xfrm>
            <a:off x="723695" y="529389"/>
            <a:ext cx="9559294" cy="54688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Integration Testing</a:t>
            </a:r>
            <a:endParaRPr lang="en-US" sz="3200" dirty="0">
              <a:solidFill>
                <a:schemeClr val="bg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752CC62-37F0-067C-799D-5E761E1CB307}"/>
              </a:ext>
            </a:extLst>
          </p:cNvPr>
          <p:cNvSpPr txBox="1"/>
          <p:nvPr/>
        </p:nvSpPr>
        <p:spPr>
          <a:xfrm>
            <a:off x="587338" y="1096987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2400" b="1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Full System</a:t>
            </a:r>
            <a:endParaRPr lang="en-US" sz="2400" b="1" dirty="0"/>
          </a:p>
        </p:txBody>
      </p:sp>
      <p:sp>
        <p:nvSpPr>
          <p:cNvPr id="11" name="Text 41">
            <a:extLst>
              <a:ext uri="{FF2B5EF4-FFF2-40B4-BE49-F238E27FC236}">
                <a16:creationId xmlns:a16="http://schemas.microsoft.com/office/drawing/2014/main" id="{A953269F-E2DE-4E7C-E8C8-A758AB28237B}"/>
              </a:ext>
            </a:extLst>
          </p:cNvPr>
          <p:cNvSpPr/>
          <p:nvPr/>
        </p:nvSpPr>
        <p:spPr>
          <a:xfrm>
            <a:off x="2746925" y="1109745"/>
            <a:ext cx="7335537" cy="46166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600" dirty="0">
                <a:solidFill>
                  <a:srgbClr val="1B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Light, fan &amp; socket run together, with the dashboard reflecting state in real time.</a:t>
            </a:r>
            <a:endParaRPr lang="en-US" sz="1600" dirty="0"/>
          </a:p>
        </p:txBody>
      </p:sp>
      <p:sp>
        <p:nvSpPr>
          <p:cNvPr id="13" name="Text 37">
            <a:extLst>
              <a:ext uri="{FF2B5EF4-FFF2-40B4-BE49-F238E27FC236}">
                <a16:creationId xmlns:a16="http://schemas.microsoft.com/office/drawing/2014/main" id="{E7FDFF7E-D044-DD65-735E-3A877BF8720A}"/>
              </a:ext>
            </a:extLst>
          </p:cNvPr>
          <p:cNvSpPr/>
          <p:nvPr/>
        </p:nvSpPr>
        <p:spPr>
          <a:xfrm>
            <a:off x="848948" y="59697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20222326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 BUDGET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Cost Analysis &amp; Bill of Materials</a:t>
            </a:r>
            <a:endParaRPr lang="en-US" sz="30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15803380"/>
              </p:ext>
            </p:extLst>
          </p:nvPr>
        </p:nvGraphicFramePr>
        <p:xfrm>
          <a:off x="548640" y="1463040"/>
          <a:ext cx="7498080" cy="4279392"/>
        </p:xfrm>
        <a:graphic>
          <a:graphicData uri="http://schemas.openxmlformats.org/drawingml/2006/table">
            <a:tbl>
              <a:tblPr/>
              <a:tblGrid>
                <a:gridCol w="3108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Component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Qty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Est. Unit Cost (USD)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Est. Subtotal (USD)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B1F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ESP32 Dev Board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1F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1F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$6 – 9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1F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~$8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B1F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4-Channel Relay Module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1F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1F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 – 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1F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~$4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B1F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DHT22 Temp/Humidity Sensor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1F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1F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 – 8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1F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~$6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B1F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I2C LCD Display (16×2)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1F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1F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 – 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1F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~$4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B1F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5V/2A Power Supply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1F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1F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 – 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1F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~$4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B1F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Breadboard, Jumper Wires, Misc.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1F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set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1F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 – 6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1F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~$5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B1F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Enclosure (Plywood, Paint)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1F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1F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 – 8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1F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~$6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Estimated Total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~$37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8275320" y="1463040"/>
            <a:ext cx="3337560" cy="4206240"/>
          </a:xfrm>
          <a:prstGeom prst="roundRect">
            <a:avLst>
              <a:gd name="adj" fmla="val 2192"/>
            </a:avLst>
          </a:prstGeom>
          <a:solidFill>
            <a:srgbClr val="1C7293"/>
          </a:solidFill>
          <a:ln/>
        </p:spPr>
      </p:sp>
      <p:sp>
        <p:nvSpPr>
          <p:cNvPr id="6" name="Text 3"/>
          <p:cNvSpPr/>
          <p:nvPr/>
        </p:nvSpPr>
        <p:spPr>
          <a:xfrm>
            <a:off x="8503920" y="164592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TAKEAWAY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8503920" y="2372868"/>
            <a:ext cx="2926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~$35–40</a:t>
            </a:r>
            <a:endParaRPr lang="en-US" sz="3400" dirty="0"/>
          </a:p>
        </p:txBody>
      </p:sp>
      <p:sp>
        <p:nvSpPr>
          <p:cNvPr id="8" name="Text 5"/>
          <p:cNvSpPr/>
          <p:nvPr/>
        </p:nvSpPr>
        <p:spPr>
          <a:xfrm>
            <a:off x="8503920" y="342900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E7F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a fully working, self-hosted 4-appliance smart-home prototype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 Based Home Automation System  |  Kathmandu University</a:t>
            </a:r>
            <a:endParaRPr lang="en-US" sz="1000" dirty="0"/>
          </a:p>
        </p:txBody>
      </p:sp>
      <p:sp>
        <p:nvSpPr>
          <p:cNvPr id="4" name="Text 9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 IMPACT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Real-World Applications &amp; Target Audience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520440" cy="2148838"/>
          </a:xfrm>
          <a:prstGeom prst="roundRect">
            <a:avLst>
              <a:gd name="adj" fmla="val 4091"/>
            </a:avLst>
          </a:prstGeom>
          <a:solidFill>
            <a:srgbClr val="FFFFFF"/>
          </a:solidFill>
          <a:ln w="12700">
            <a:solidFill>
              <a:srgbClr val="E1E7E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828800"/>
            <a:ext cx="502920" cy="502920"/>
          </a:xfrm>
          <a:prstGeom prst="roundRect">
            <a:avLst>
              <a:gd name="adj" fmla="val 50909"/>
            </a:avLst>
          </a:prstGeom>
          <a:solidFill>
            <a:srgbClr val="065A82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8288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77240" y="2372867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Residential Smart Homes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77240" y="2807208"/>
            <a:ext cx="3063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B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Everyday households upgrading manual switches to remote, app-free control.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325112" y="1518066"/>
            <a:ext cx="3520440" cy="2230974"/>
          </a:xfrm>
          <a:prstGeom prst="roundRect">
            <a:avLst>
              <a:gd name="adj" fmla="val 4091"/>
            </a:avLst>
          </a:prstGeom>
          <a:solidFill>
            <a:srgbClr val="FFFFFF"/>
          </a:solidFill>
          <a:ln w="12700">
            <a:solidFill>
              <a:srgbClr val="E1E7E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53712" y="1828800"/>
            <a:ext cx="502920" cy="502920"/>
          </a:xfrm>
          <a:prstGeom prst="roundRect">
            <a:avLst>
              <a:gd name="adj" fmla="val 50909"/>
            </a:avLst>
          </a:prstGeom>
          <a:solidFill>
            <a:srgbClr val="1C7293"/>
          </a:solidFill>
          <a:ln/>
        </p:spPr>
      </p:sp>
      <p:sp>
        <p:nvSpPr>
          <p:cNvPr id="11" name="Text 9"/>
          <p:cNvSpPr/>
          <p:nvPr/>
        </p:nvSpPr>
        <p:spPr>
          <a:xfrm>
            <a:off x="4553712" y="18288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564380" y="2403588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Rental Apartments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553712" y="2807208"/>
            <a:ext cx="3063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B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Non-invasive setup that plugs into existing wiring without permanent modification.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8101584" y="1600200"/>
            <a:ext cx="3520440" cy="2148840"/>
          </a:xfrm>
          <a:prstGeom prst="roundRect">
            <a:avLst>
              <a:gd name="adj" fmla="val 4091"/>
            </a:avLst>
          </a:prstGeom>
          <a:solidFill>
            <a:srgbClr val="FFFFFF"/>
          </a:solidFill>
          <a:ln w="12700">
            <a:solidFill>
              <a:srgbClr val="E1E7E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330184" y="1828800"/>
            <a:ext cx="502920" cy="502920"/>
          </a:xfrm>
          <a:prstGeom prst="roundRect">
            <a:avLst>
              <a:gd name="adj" fmla="val 50909"/>
            </a:avLst>
          </a:prstGeom>
          <a:solidFill>
            <a:srgbClr val="21295C"/>
          </a:solidFill>
          <a:ln/>
        </p:spPr>
      </p:sp>
      <p:sp>
        <p:nvSpPr>
          <p:cNvPr id="16" name="Text 14"/>
          <p:cNvSpPr/>
          <p:nvPr/>
        </p:nvSpPr>
        <p:spPr>
          <a:xfrm>
            <a:off x="8330184" y="18288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330184" y="2386584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Elderly &amp; Accessibility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330184" y="2807208"/>
            <a:ext cx="3063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B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Lets appliances be operated without reaching a wall switch, aiding mobility-limited users.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576072" y="3841284"/>
            <a:ext cx="3520440" cy="2366530"/>
          </a:xfrm>
          <a:prstGeom prst="roundRect">
            <a:avLst>
              <a:gd name="adj" fmla="val 4091"/>
            </a:avLst>
          </a:prstGeom>
          <a:solidFill>
            <a:srgbClr val="FFFFFF"/>
          </a:solidFill>
          <a:ln w="12700">
            <a:solidFill>
              <a:srgbClr val="E1E7E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77240" y="4114800"/>
            <a:ext cx="502920" cy="502920"/>
          </a:xfrm>
          <a:prstGeom prst="roundRect">
            <a:avLst>
              <a:gd name="adj" fmla="val 50909"/>
            </a:avLst>
          </a:prstGeom>
          <a:solidFill>
            <a:srgbClr val="3B7A93"/>
          </a:solidFill>
          <a:ln/>
        </p:spPr>
      </p:sp>
      <p:sp>
        <p:nvSpPr>
          <p:cNvPr id="21" name="Text 19"/>
          <p:cNvSpPr/>
          <p:nvPr/>
        </p:nvSpPr>
        <p:spPr>
          <a:xfrm>
            <a:off x="777240" y="41148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77240" y="4668414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Students &amp; Hobbyists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777240" y="5093208"/>
            <a:ext cx="3063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B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affordable, open, and fully customizable platform for learning embedded IoT development.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4325112" y="3886199"/>
            <a:ext cx="3520440" cy="2321615"/>
          </a:xfrm>
          <a:prstGeom prst="roundRect">
            <a:avLst>
              <a:gd name="adj" fmla="val 4091"/>
            </a:avLst>
          </a:prstGeom>
          <a:solidFill>
            <a:srgbClr val="FFFFFF"/>
          </a:solidFill>
          <a:ln w="12700">
            <a:solidFill>
              <a:srgbClr val="E1E7E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553712" y="4114800"/>
            <a:ext cx="502920" cy="502920"/>
          </a:xfrm>
          <a:prstGeom prst="roundRect">
            <a:avLst>
              <a:gd name="adj" fmla="val 50909"/>
            </a:avLst>
          </a:prstGeom>
          <a:solidFill>
            <a:srgbClr val="1C7293"/>
          </a:solidFill>
          <a:ln/>
        </p:spPr>
      </p:sp>
      <p:sp>
        <p:nvSpPr>
          <p:cNvPr id="26" name="Text 24"/>
          <p:cNvSpPr/>
          <p:nvPr/>
        </p:nvSpPr>
        <p:spPr>
          <a:xfrm>
            <a:off x="4553712" y="41148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4549140" y="466312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Small Offices &amp; Labs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4553712" y="5093208"/>
            <a:ext cx="3063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B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climate response and centralized appliance control for shared spaces.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8101584" y="3886200"/>
            <a:ext cx="3520440" cy="2321614"/>
          </a:xfrm>
          <a:prstGeom prst="roundRect">
            <a:avLst>
              <a:gd name="adj" fmla="val 4091"/>
            </a:avLst>
          </a:prstGeom>
          <a:solidFill>
            <a:srgbClr val="FFFFFF"/>
          </a:solidFill>
          <a:ln w="12700">
            <a:solidFill>
              <a:srgbClr val="E1E7EE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330184" y="4114800"/>
            <a:ext cx="502920" cy="502920"/>
          </a:xfrm>
          <a:prstGeom prst="roundRect">
            <a:avLst>
              <a:gd name="adj" fmla="val 50909"/>
            </a:avLst>
          </a:prstGeom>
          <a:solidFill>
            <a:srgbClr val="4E8FA3"/>
          </a:solidFill>
          <a:ln/>
        </p:spPr>
      </p:sp>
      <p:sp>
        <p:nvSpPr>
          <p:cNvPr id="31" name="Text 29"/>
          <p:cNvSpPr/>
          <p:nvPr/>
        </p:nvSpPr>
        <p:spPr>
          <a:xfrm>
            <a:off x="8330184" y="41148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8330184" y="4658789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Energy-Conscious Users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8330184" y="5093208"/>
            <a:ext cx="3063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B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fan control based on real conditions helps avoid unnecessary appliance runtime.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 Based Home Automation System  |  Kathmandu University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 HONEST ASSESSMENT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Limitations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1064240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E1E7E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49808" y="1746504"/>
            <a:ext cx="420624" cy="420624"/>
          </a:xfrm>
          <a:prstGeom prst="ellipse">
            <a:avLst/>
          </a:prstGeom>
          <a:solidFill>
            <a:srgbClr val="E0A93B"/>
          </a:solidFill>
          <a:ln/>
        </p:spPr>
      </p:sp>
      <p:sp>
        <p:nvSpPr>
          <p:cNvPr id="6" name="Text 4"/>
          <p:cNvSpPr/>
          <p:nvPr/>
        </p:nvSpPr>
        <p:spPr>
          <a:xfrm>
            <a:off x="749808" y="1746504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371600" y="1600200"/>
            <a:ext cx="9966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B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dependent on the home Wi-Fi network — if it goes down, remote/manual control from a browser is unavailable.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48640" y="2423160"/>
            <a:ext cx="11064240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E1E7E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49808" y="2569464"/>
            <a:ext cx="420624" cy="420624"/>
          </a:xfrm>
          <a:prstGeom prst="ellipse">
            <a:avLst/>
          </a:prstGeom>
          <a:solidFill>
            <a:srgbClr val="E0A93B"/>
          </a:solidFill>
          <a:ln/>
        </p:spPr>
      </p:sp>
      <p:sp>
        <p:nvSpPr>
          <p:cNvPr id="10" name="Text 8"/>
          <p:cNvSpPr/>
          <p:nvPr/>
        </p:nvSpPr>
        <p:spPr>
          <a:xfrm>
            <a:off x="749808" y="2569464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1371600" y="2423160"/>
            <a:ext cx="9966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B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cloud integration yet, so the system cannot be controlled or monitored from outside the local network (e.g., mobile data).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48640" y="3246120"/>
            <a:ext cx="11064240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E1E7E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49808" y="3392424"/>
            <a:ext cx="420624" cy="420624"/>
          </a:xfrm>
          <a:prstGeom prst="ellipse">
            <a:avLst/>
          </a:prstGeom>
          <a:solidFill>
            <a:srgbClr val="E0A93B"/>
          </a:solidFill>
          <a:ln/>
        </p:spPr>
      </p:sp>
      <p:sp>
        <p:nvSpPr>
          <p:cNvPr id="14" name="Text 12"/>
          <p:cNvSpPr/>
          <p:nvPr/>
        </p:nvSpPr>
        <p:spPr>
          <a:xfrm>
            <a:off x="749808" y="3392424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1371600" y="3246120"/>
            <a:ext cx="9966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B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fan control uses a single fixed hysteresis threshold, not a configurable schedule or multi-zone logic.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0" y="4069080"/>
            <a:ext cx="11064240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E1E7E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49808" y="4215384"/>
            <a:ext cx="420624" cy="420624"/>
          </a:xfrm>
          <a:prstGeom prst="ellipse">
            <a:avLst/>
          </a:prstGeom>
          <a:solidFill>
            <a:srgbClr val="E0A93B"/>
          </a:solidFill>
          <a:ln/>
        </p:spPr>
      </p:sp>
      <p:sp>
        <p:nvSpPr>
          <p:cNvPr id="18" name="Text 16"/>
          <p:cNvSpPr/>
          <p:nvPr/>
        </p:nvSpPr>
        <p:spPr>
          <a:xfrm>
            <a:off x="749808" y="4215384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1371600" y="4069080"/>
            <a:ext cx="9966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B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Relay module is rated for 10A/250V AC per channel — not suited to higher-power appliances without extra hardware.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548640" y="4892040"/>
            <a:ext cx="11064240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E1E7E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49808" y="5038344"/>
            <a:ext cx="420624" cy="420624"/>
          </a:xfrm>
          <a:prstGeom prst="ellipse">
            <a:avLst/>
          </a:prstGeom>
          <a:solidFill>
            <a:srgbClr val="E0A93B"/>
          </a:solidFill>
          <a:ln/>
        </p:spPr>
      </p:sp>
      <p:sp>
        <p:nvSpPr>
          <p:cNvPr id="22" name="Text 20"/>
          <p:cNvSpPr/>
          <p:nvPr/>
        </p:nvSpPr>
        <p:spPr>
          <a:xfrm>
            <a:off x="749808" y="5038344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1371600" y="4892040"/>
            <a:ext cx="9966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B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voice-feedback module (INMP441/MAX98357A) is a planned enhancement, not yet integrated into the working prototype.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548640" y="5715000"/>
            <a:ext cx="11064240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E1E7E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49808" y="5861304"/>
            <a:ext cx="420624" cy="420624"/>
          </a:xfrm>
          <a:prstGeom prst="ellipse">
            <a:avLst/>
          </a:prstGeom>
          <a:solidFill>
            <a:srgbClr val="E0A93B"/>
          </a:solidFill>
          <a:ln/>
        </p:spPr>
      </p:sp>
      <p:sp>
        <p:nvSpPr>
          <p:cNvPr id="26" name="Text 24"/>
          <p:cNvSpPr/>
          <p:nvPr/>
        </p:nvSpPr>
        <p:spPr>
          <a:xfrm>
            <a:off x="749808" y="5861304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1371600" y="5715000"/>
            <a:ext cx="9966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B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Tested on a breadboard prototype only; long-term reliability in a permanent installation has not yet been evaluated.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 Based Home Automation System  |  Kathmandu University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 ROADMAP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Work &amp; Upgrades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440680" cy="138988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12700">
            <a:solidFill>
              <a:srgbClr val="E1E7E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13232" y="1719072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065A82"/>
          </a:solidFill>
          <a:ln/>
        </p:spPr>
      </p:sp>
      <p:sp>
        <p:nvSpPr>
          <p:cNvPr id="6" name="Text 4"/>
          <p:cNvSpPr/>
          <p:nvPr/>
        </p:nvSpPr>
        <p:spPr>
          <a:xfrm>
            <a:off x="713232" y="171907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234440" y="1645920"/>
            <a:ext cx="3520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Voice Feedback Module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62001" y="2025396"/>
            <a:ext cx="399288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1B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INMP441 MEMS microphone + MAX98357A I2S amplifier to announce status changes aloud (e.g. "Fan turned on"). Early wiring already underway.</a:t>
            </a:r>
            <a:endParaRPr lang="en-US" sz="1400" dirty="0"/>
          </a:p>
        </p:txBody>
      </p:sp>
      <p:pic>
        <p:nvPicPr>
          <p:cNvPr id="9" name="Image 0" descr="/home/claude/pptx_work/report_images/voice_module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96063" y="1623038"/>
            <a:ext cx="1323473" cy="1298448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6172200" y="1554480"/>
            <a:ext cx="5440680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12700">
            <a:solidFill>
              <a:srgbClr val="E1E7EE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336792" y="1719072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/>
        </p:spPr>
      </p:sp>
      <p:sp>
        <p:nvSpPr>
          <p:cNvPr id="12" name="Text 9"/>
          <p:cNvSpPr/>
          <p:nvPr/>
        </p:nvSpPr>
        <p:spPr>
          <a:xfrm>
            <a:off x="6336792" y="171907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6858000" y="1645920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Cloud &amp; Remote Access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6858000" y="1938528"/>
            <a:ext cx="45720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1B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 beyond the local network so the dashboard can be reached securely over mobile data.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548640" y="3017520"/>
            <a:ext cx="5440680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12700">
            <a:solidFill>
              <a:srgbClr val="E1E7EE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713232" y="3182112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21295C"/>
          </a:solidFill>
          <a:ln/>
        </p:spPr>
      </p:sp>
      <p:sp>
        <p:nvSpPr>
          <p:cNvPr id="17" name="Text 14"/>
          <p:cNvSpPr/>
          <p:nvPr/>
        </p:nvSpPr>
        <p:spPr>
          <a:xfrm>
            <a:off x="713232" y="318211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1234440" y="3108960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Configurable Scheduling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1234440" y="3401568"/>
            <a:ext cx="45720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1B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the single fixed threshold with a configurable schedule and multi-zone automation logic.</a:t>
            </a:r>
            <a:endParaRPr lang="en-US" sz="1400" dirty="0"/>
          </a:p>
        </p:txBody>
      </p:sp>
      <p:sp>
        <p:nvSpPr>
          <p:cNvPr id="20" name="Shape 17"/>
          <p:cNvSpPr/>
          <p:nvPr/>
        </p:nvSpPr>
        <p:spPr>
          <a:xfrm>
            <a:off x="6172200" y="3017520"/>
            <a:ext cx="5440680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12700">
            <a:solidFill>
              <a:srgbClr val="E1E7EE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6336792" y="3182112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3B7A93"/>
          </a:solidFill>
          <a:ln/>
        </p:spPr>
      </p:sp>
      <p:sp>
        <p:nvSpPr>
          <p:cNvPr id="22" name="Text 19"/>
          <p:cNvSpPr/>
          <p:nvPr/>
        </p:nvSpPr>
        <p:spPr>
          <a:xfrm>
            <a:off x="6336792" y="318211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6858000" y="3108960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Companion Mobile App</a:t>
            </a:r>
            <a:endParaRPr lang="en-US" sz="1400" dirty="0"/>
          </a:p>
        </p:txBody>
      </p:sp>
      <p:sp>
        <p:nvSpPr>
          <p:cNvPr id="24" name="Text 21"/>
          <p:cNvSpPr/>
          <p:nvPr/>
        </p:nvSpPr>
        <p:spPr>
          <a:xfrm>
            <a:off x="6858000" y="3401568"/>
            <a:ext cx="45720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1B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native or PWA mobile experience layered on top of the existing self-hosted web dashboard.</a:t>
            </a:r>
            <a:endParaRPr lang="en-US" sz="1400" dirty="0"/>
          </a:p>
        </p:txBody>
      </p:sp>
      <p:sp>
        <p:nvSpPr>
          <p:cNvPr id="25" name="Shape 22"/>
          <p:cNvSpPr/>
          <p:nvPr/>
        </p:nvSpPr>
        <p:spPr>
          <a:xfrm>
            <a:off x="548640" y="4480560"/>
            <a:ext cx="5440680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12700">
            <a:solidFill>
              <a:srgbClr val="E1E7EE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713232" y="4645152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/>
        </p:spPr>
      </p:sp>
      <p:sp>
        <p:nvSpPr>
          <p:cNvPr id="27" name="Text 24"/>
          <p:cNvSpPr/>
          <p:nvPr/>
        </p:nvSpPr>
        <p:spPr>
          <a:xfrm>
            <a:off x="713232" y="464515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8" name="Text 25"/>
          <p:cNvSpPr/>
          <p:nvPr/>
        </p:nvSpPr>
        <p:spPr>
          <a:xfrm>
            <a:off x="1234440" y="4572000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Energy Monitoring</a:t>
            </a:r>
            <a:endParaRPr lang="en-US" sz="1400" dirty="0"/>
          </a:p>
        </p:txBody>
      </p:sp>
      <p:sp>
        <p:nvSpPr>
          <p:cNvPr id="29" name="Text 26"/>
          <p:cNvSpPr/>
          <p:nvPr/>
        </p:nvSpPr>
        <p:spPr>
          <a:xfrm>
            <a:off x="1234440" y="4864608"/>
            <a:ext cx="45720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1B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current-sensing to track and report per-appliance power consumption over time.</a:t>
            </a:r>
            <a:endParaRPr lang="en-US" sz="1400" dirty="0"/>
          </a:p>
        </p:txBody>
      </p:sp>
      <p:sp>
        <p:nvSpPr>
          <p:cNvPr id="30" name="Shape 27"/>
          <p:cNvSpPr/>
          <p:nvPr/>
        </p:nvSpPr>
        <p:spPr>
          <a:xfrm>
            <a:off x="6172200" y="4480560"/>
            <a:ext cx="5440680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12700">
            <a:solidFill>
              <a:srgbClr val="E1E7EE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6336792" y="4645152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4E8FA3"/>
          </a:solidFill>
          <a:ln/>
        </p:spPr>
      </p:sp>
      <p:sp>
        <p:nvSpPr>
          <p:cNvPr id="32" name="Text 29"/>
          <p:cNvSpPr/>
          <p:nvPr/>
        </p:nvSpPr>
        <p:spPr>
          <a:xfrm>
            <a:off x="6336792" y="464515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33" name="Text 30"/>
          <p:cNvSpPr/>
          <p:nvPr/>
        </p:nvSpPr>
        <p:spPr>
          <a:xfrm>
            <a:off x="6858000" y="4572000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Higher-Power Load Support</a:t>
            </a:r>
            <a:endParaRPr lang="en-US" sz="1400" dirty="0"/>
          </a:p>
        </p:txBody>
      </p:sp>
      <p:sp>
        <p:nvSpPr>
          <p:cNvPr id="34" name="Text 31"/>
          <p:cNvSpPr/>
          <p:nvPr/>
        </p:nvSpPr>
        <p:spPr>
          <a:xfrm>
            <a:off x="6858000" y="4864608"/>
            <a:ext cx="45720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1B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Additional hardware (contactors/SSRs) to safely extend control to higher-power appliances.</a:t>
            </a:r>
            <a:endParaRPr lang="en-US" sz="1400" dirty="0"/>
          </a:p>
        </p:txBody>
      </p:sp>
      <p:sp>
        <p:nvSpPr>
          <p:cNvPr id="35" name="Text 32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 Based Home Automation System  |  Kathmandu University</a:t>
            </a:r>
            <a:endParaRPr lang="en-US" sz="1000" dirty="0"/>
          </a:p>
        </p:txBody>
      </p:sp>
      <p:sp>
        <p:nvSpPr>
          <p:cNvPr id="36" name="Text 33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3840480"/>
            <a:ext cx="3840480" cy="3840480"/>
          </a:xfrm>
          <a:prstGeom prst="ellipse">
            <a:avLst/>
          </a:prstGeom>
          <a:solidFill>
            <a:srgbClr val="002060">
              <a:alpha val="82000"/>
            </a:srgbClr>
          </a:solidFill>
          <a:ln/>
        </p:spPr>
      </p:sp>
      <p:sp>
        <p:nvSpPr>
          <p:cNvPr id="4" name="Text 1"/>
          <p:cNvSpPr/>
          <p:nvPr/>
        </p:nvSpPr>
        <p:spPr>
          <a:xfrm>
            <a:off x="2879387" y="822474"/>
            <a:ext cx="6517532" cy="4046706"/>
          </a:xfrm>
          <a:prstGeom prst="rect">
            <a:avLst/>
          </a:prstGeom>
          <a:solidFill>
            <a:srgbClr val="002060">
              <a:alpha val="51000"/>
            </a:srgbClr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6000" dirty="0"/>
          </a:p>
        </p:txBody>
      </p:sp>
      <p:sp>
        <p:nvSpPr>
          <p:cNvPr id="5" name="Text 2"/>
          <p:cNvSpPr/>
          <p:nvPr/>
        </p:nvSpPr>
        <p:spPr>
          <a:xfrm>
            <a:off x="0" y="3246120"/>
            <a:ext cx="121916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i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0" y="6035040"/>
            <a:ext cx="121916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F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 Based Home Automation System — ENGG 102 Project Proposal Defense</a:t>
            </a:r>
            <a:endParaRPr lang="en-US" sz="1100" dirty="0"/>
          </a:p>
        </p:txBody>
      </p:sp>
      <p:pic>
        <p:nvPicPr>
          <p:cNvPr id="3" name="Image 0" descr="/mnt/user-data/outputs/media/logo-20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38648" y="1188720"/>
            <a:ext cx="914400" cy="914400"/>
          </a:xfrm>
          <a:prstGeom prst="rect">
            <a:avLst/>
          </a:prstGeom>
        </p:spPr>
      </p:pic>
      <p:sp>
        <p:nvSpPr>
          <p:cNvPr id="8" name="Shape 0">
            <a:extLst>
              <a:ext uri="{FF2B5EF4-FFF2-40B4-BE49-F238E27FC236}">
                <a16:creationId xmlns:a16="http://schemas.microsoft.com/office/drawing/2014/main" id="{6C940408-924C-8E00-B3F5-BAD4071C40B0}"/>
              </a:ext>
            </a:extLst>
          </p:cNvPr>
          <p:cNvSpPr/>
          <p:nvPr/>
        </p:nvSpPr>
        <p:spPr>
          <a:xfrm>
            <a:off x="-1383273" y="-1719363"/>
            <a:ext cx="4178050" cy="4209158"/>
          </a:xfrm>
          <a:prstGeom prst="ellipse">
            <a:avLst/>
          </a:prstGeom>
          <a:solidFill>
            <a:srgbClr val="002060">
              <a:alpha val="82000"/>
            </a:srgbClr>
          </a:solidFill>
          <a:ln/>
        </p:spPr>
      </p:sp>
    </p:spTree>
    <p:extLst>
      <p:ext uri="{BB962C8B-B14F-4D97-AF65-F5344CB8AC3E}">
        <p14:creationId xmlns:p14="http://schemas.microsoft.com/office/powerpoint/2010/main" val="92810394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alpha val="92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645920" y="-1828800"/>
            <a:ext cx="5029200" cy="5029200"/>
          </a:xfrm>
          <a:prstGeom prst="ellipse">
            <a:avLst/>
          </a:prstGeom>
          <a:solidFill>
            <a:srgbClr val="FFC000">
              <a:alpha val="61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875520" y="4114800"/>
            <a:ext cx="4114800" cy="4114800"/>
          </a:xfrm>
          <a:prstGeom prst="ellipse">
            <a:avLst/>
          </a:prstGeom>
          <a:solidFill>
            <a:srgbClr val="FFC000">
              <a:alpha val="67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592928" y="1965960"/>
            <a:ext cx="1005840" cy="1005840"/>
          </a:xfrm>
          <a:prstGeom prst="ellipse">
            <a:avLst/>
          </a:prstGeom>
          <a:solidFill>
            <a:srgbClr val="12233F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34329" y="2207362"/>
            <a:ext cx="523037" cy="523037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0" y="3246120"/>
            <a:ext cx="121916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300" dirty="0">
                <a:solidFill>
                  <a:srgbClr val="12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0" y="3566160"/>
            <a:ext cx="121916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12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Anticipated Viva Questions</a:t>
            </a:r>
            <a:endParaRPr lang="en-US" sz="3200" dirty="0"/>
          </a:p>
        </p:txBody>
      </p:sp>
      <p:sp>
        <p:nvSpPr>
          <p:cNvPr id="8" name="Text 5"/>
          <p:cNvSpPr/>
          <p:nvPr/>
        </p:nvSpPr>
        <p:spPr>
          <a:xfrm>
            <a:off x="0" y="4343400"/>
            <a:ext cx="121916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5B44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questions the panel may ask, with concise answers to have ready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40405474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805</TotalTime>
  <Words>2485</Words>
  <Application>Microsoft Office PowerPoint</Application>
  <PresentationFormat>Widescreen</PresentationFormat>
  <Paragraphs>494</Paragraphs>
  <Slides>33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7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sameen8008@gmail.com</cp:lastModifiedBy>
  <cp:revision>78</cp:revision>
  <dcterms:created xsi:type="dcterms:W3CDTF">2026-08-01T11:49:34Z</dcterms:created>
  <dcterms:modified xsi:type="dcterms:W3CDTF">2026-08-03T05:03:10Z</dcterms:modified>
</cp:coreProperties>
</file>